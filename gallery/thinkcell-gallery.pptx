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柱形图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13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Revenue has grown every year since 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10607039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4361" y="3968496"/>
            <a:ext cx="1272844" cy="183794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70554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7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5769" y="3747942"/>
            <a:ext cx="1272844" cy="205849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7" y="3450000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7177" y="3453871"/>
            <a:ext cx="1272844" cy="235256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3155929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3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8585" y="3135294"/>
            <a:ext cx="1272844" cy="267114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3" y="2837352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9993" y="2743200"/>
            <a:ext cx="1272844" cy="306323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1" y="2445257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700784" y="1984248"/>
            <a:ext cx="0" cy="1636776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700784" y="1984248"/>
            <a:ext cx="848563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0186415" y="1984248"/>
            <a:ext cx="0" cy="41148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24" name="Oval 23"/>
          <p:cNvSpPr/>
          <p:nvPr/>
        </p:nvSpPr>
        <p:spPr>
          <a:xfrm>
            <a:off x="5481827" y="1833117"/>
            <a:ext cx="923544" cy="3022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+13.6%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367783" y="2743200"/>
            <a:ext cx="5818632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10145267" y="270205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6167" y="2633472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Record year: +15% YoY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Growth driven by all three segments, Seg C fastest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4826203"/>
            <a:ext cx="1130198" cy="980236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812" y="4213555"/>
            <a:ext cx="1130198" cy="612647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812" y="3968496"/>
            <a:ext cx="1130198" cy="24505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0554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4728179"/>
            <a:ext cx="1130198" cy="1078260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0476" y="4042013"/>
            <a:ext cx="1130198" cy="686165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476" y="3747942"/>
            <a:ext cx="1130198" cy="29407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450000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4630155"/>
            <a:ext cx="1130198" cy="1176284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4140" y="3821460"/>
            <a:ext cx="1130198" cy="808695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4140" y="3453871"/>
            <a:ext cx="1130198" cy="36758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155929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804" y="4532132"/>
            <a:ext cx="1130198" cy="1274307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804" y="3600907"/>
            <a:ext cx="1130198" cy="93122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804" y="3135294"/>
            <a:ext cx="1130198" cy="46561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837352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4409602"/>
            <a:ext cx="1130198" cy="1396837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1468" y="3355848"/>
            <a:ext cx="1130198" cy="105375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1468" y="2743200"/>
            <a:ext cx="1130198" cy="61264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244525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1395" y="4974671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1395" y="374937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1395" y="2916174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581912" y="1984248"/>
            <a:ext cx="0" cy="1636776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581912" y="1984248"/>
            <a:ext cx="7534655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116567" y="1984248"/>
            <a:ext cx="0" cy="41148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7" name="Oval 36"/>
          <p:cNvSpPr/>
          <p:nvPr/>
        </p:nvSpPr>
        <p:spPr>
          <a:xfrm>
            <a:off x="4887468" y="1833117"/>
            <a:ext cx="923544" cy="3022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+13.6%</a:t>
            </a:r>
          </a:p>
        </p:txBody>
      </p:sp>
      <p:sp>
        <p:nvSpPr>
          <p:cNvPr id="38" name="Oval 37"/>
          <p:cNvSpPr/>
          <p:nvPr/>
        </p:nvSpPr>
        <p:spPr>
          <a:xfrm>
            <a:off x="8368588" y="2423160"/>
            <a:ext cx="1495958" cy="379476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4351020" y="2743200"/>
            <a:ext cx="4765547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9075419" y="270205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12035" y="2542032"/>
            <a:ext cx="253898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Seg C now 20% of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Seg C share rose from 13% to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of revenue)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3904488"/>
            <a:ext cx="1130198" cy="190195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53%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812" y="2715768"/>
            <a:ext cx="1130198" cy="1188720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812" y="2240280"/>
            <a:ext cx="1130198" cy="47548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3938451"/>
            <a:ext cx="1130198" cy="186798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0476" y="2749731"/>
            <a:ext cx="1130198" cy="1188720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476" y="2240279"/>
            <a:ext cx="1130198" cy="50945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4023360"/>
            <a:ext cx="1130198" cy="1783080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4140" y="2797492"/>
            <a:ext cx="1130198" cy="1225867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4140" y="2240279"/>
            <a:ext cx="1130198" cy="55721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804" y="4105152"/>
            <a:ext cx="1130198" cy="1701287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804" y="2861904"/>
            <a:ext cx="1130198" cy="124324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804" y="2240279"/>
            <a:ext cx="1130198" cy="62162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4180271"/>
            <a:ext cx="1130198" cy="162616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1468" y="2953512"/>
            <a:ext cx="1130198" cy="122675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1468" y="2240279"/>
            <a:ext cx="1130198" cy="71323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91439" y="567309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91439" y="389001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91439" y="2106929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1395" y="486000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1395" y="3433541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1395" y="246354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Region North outperforms in every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10607039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3535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2040" y="3083190"/>
            <a:ext cx="883920" cy="272324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" y="2812680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537065"/>
            <a:ext cx="883920" cy="226937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66555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9880" y="4509654"/>
            <a:ext cx="883920" cy="1296785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2720" y="4239144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5760" y="5874258"/>
            <a:ext cx="3535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694154"/>
            <a:ext cx="883920" cy="311228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423644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1640" y="3407386"/>
            <a:ext cx="883920" cy="2399053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4480" y="3136876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5560" y="4250297"/>
            <a:ext cx="883920" cy="155614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3979787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1439" y="5874258"/>
            <a:ext cx="3535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3399" y="2240280"/>
            <a:ext cx="883920" cy="35661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239" y="1969770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7320" y="3212869"/>
            <a:ext cx="883920" cy="2593570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0160" y="2942359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4120618"/>
            <a:ext cx="883920" cy="168582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3850108"/>
            <a:ext cx="11582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1572768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North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1572768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7088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South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1572768"/>
            <a:ext cx="146304" cy="146304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West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48727" y="2011680"/>
            <a:ext cx="1101344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8408923" y="197053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87111" y="1810512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North +31% since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One outlier year dwarfs the rest – axis break keeps detail readable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(# deals)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10607039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4361" y="5289605"/>
            <a:ext cx="1272844" cy="51683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991663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7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5769" y="5141938"/>
            <a:ext cx="1272844" cy="66450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7" y="4843996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7177" y="2240279"/>
            <a:ext cx="1272844" cy="35661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1942337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3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8585" y="4994271"/>
            <a:ext cx="1272844" cy="81216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3" y="4696329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5874258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9993" y="4809687"/>
            <a:ext cx="1272844" cy="9967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1" y="4511745"/>
            <a:ext cx="212140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21" name="Freeform 20"/>
          <p:cNvSpPr/>
          <p:nvPr/>
        </p:nvSpPr>
        <p:spPr>
          <a:xfrm>
            <a:off x="5252313" y="3765794"/>
            <a:ext cx="1382573" cy="118872"/>
          </a:xfrm>
          <a:custGeom>
            <a:avLst/>
            <a:gdLst/>
            <a:ahLst/>
            <a:cxnLst/>
            <a:rect l="l" t="t" r="r" b="b"/>
            <a:pathLst>
              <a:path w="1382573" h="118872">
                <a:moveTo>
                  <a:pt x="0" y="91440"/>
                </a:moveTo>
                <a:lnTo>
                  <a:pt x="1382573" y="0"/>
                </a:lnTo>
                <a:lnTo>
                  <a:pt x="1382573" y="27432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252313" y="3857234"/>
            <a:ext cx="1382573" cy="118872"/>
          </a:xfrm>
          <a:custGeom>
            <a:avLst/>
            <a:gdLst/>
            <a:ahLst/>
            <a:cxnLst/>
            <a:rect l="l" t="t" r="r" b="b"/>
            <a:pathLst>
              <a:path w="1382573" h="118872">
                <a:moveTo>
                  <a:pt x="0" y="91440"/>
                </a:moveTo>
                <a:lnTo>
                  <a:pt x="1382573" y="0"/>
                </a:lnTo>
                <a:lnTo>
                  <a:pt x="1382573" y="27432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943600" y="2240279"/>
            <a:ext cx="1017524" cy="347472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902452" y="2199131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61124" y="2587751"/>
            <a:ext cx="2354072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One-off portfolio deal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2025 revenue is 67% above 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4665268"/>
            <a:ext cx="1130198" cy="114117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812" y="3952036"/>
            <a:ext cx="1130198" cy="71323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812" y="3666744"/>
            <a:ext cx="1130198" cy="28529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8802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4551151"/>
            <a:ext cx="1130198" cy="125528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0476" y="3752331"/>
            <a:ext cx="1130198" cy="79881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476" y="3409980"/>
            <a:ext cx="1130198" cy="34235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1120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4437034"/>
            <a:ext cx="1130198" cy="1369405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4140" y="3495568"/>
            <a:ext cx="1130198" cy="94146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4140" y="3067629"/>
            <a:ext cx="1130198" cy="42793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76968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804" y="4322917"/>
            <a:ext cx="1130198" cy="148352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804" y="3238804"/>
            <a:ext cx="1130198" cy="108411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804" y="2696748"/>
            <a:ext cx="1130198" cy="54205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398806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4180271"/>
            <a:ext cx="1130198" cy="162616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1468" y="2953512"/>
            <a:ext cx="1130198" cy="122675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1468" y="2240279"/>
            <a:ext cx="1130198" cy="71323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1572768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1572768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7088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1572768"/>
            <a:ext cx="146304" cy="146304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52928" y="1512570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47011" y="3666744"/>
            <a:ext cx="7836408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38" name="Connector 37"/>
          <p:cNvCxnSpPr/>
          <p:nvPr/>
        </p:nvCxnSpPr>
        <p:spPr>
          <a:xfrm>
            <a:off x="9681667" y="2240279"/>
            <a:ext cx="301752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39" name="Connector 38"/>
          <p:cNvCxnSpPr/>
          <p:nvPr/>
        </p:nvCxnSpPr>
        <p:spPr>
          <a:xfrm flipV="1">
            <a:off x="9910267" y="2240279"/>
            <a:ext cx="0" cy="1426465"/>
          </a:xfrm>
          <a:prstGeom prst="line">
            <a:avLst/>
          </a:prstGeom>
          <a:ln w="9525"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40" name="Oval 39"/>
          <p:cNvSpPr/>
          <p:nvPr/>
        </p:nvSpPr>
        <p:spPr>
          <a:xfrm>
            <a:off x="10001707" y="2802382"/>
            <a:ext cx="822960" cy="3022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+67%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2024 was the inflection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4665268"/>
            <a:ext cx="1130198" cy="114117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812" y="3952036"/>
            <a:ext cx="1130198" cy="71323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812" y="3666744"/>
            <a:ext cx="1130198" cy="28529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8802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4551151"/>
            <a:ext cx="1130198" cy="125528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0476" y="3752331"/>
            <a:ext cx="1130198" cy="79881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476" y="3409980"/>
            <a:ext cx="1130198" cy="34235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1120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4437034"/>
            <a:ext cx="1130198" cy="1369405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4140" y="3495568"/>
            <a:ext cx="1130198" cy="94146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4140" y="3067629"/>
            <a:ext cx="1130198" cy="42793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76968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804" y="4322917"/>
            <a:ext cx="1130198" cy="148352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804" y="3238804"/>
            <a:ext cx="1130198" cy="108411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804" y="2696748"/>
            <a:ext cx="1130198" cy="54205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398806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4180271"/>
            <a:ext cx="1130198" cy="162616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1468" y="2953512"/>
            <a:ext cx="1130198" cy="122675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1468" y="2240279"/>
            <a:ext cx="1130198" cy="71323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1395" y="486000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1395" y="3433541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1395" y="246354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  <p:sp>
        <p:nvSpPr>
          <p:cNvPr id="34" name="Oval 33"/>
          <p:cNvSpPr/>
          <p:nvPr/>
        </p:nvSpPr>
        <p:spPr>
          <a:xfrm>
            <a:off x="6484924" y="2376708"/>
            <a:ext cx="1495958" cy="3841211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3928364" y="2696748"/>
            <a:ext cx="3304540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191756" y="265560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59204" y="2312700"/>
            <a:ext cx="216916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New pricing launched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Actuals beat plan in every year across all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5778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29370" y="4277563"/>
            <a:ext cx="1105082" cy="1300276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9370" y="3410712"/>
            <a:ext cx="1105082" cy="866851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370" y="3063971"/>
            <a:ext cx="1105082" cy="3467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" y="2766029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84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5146" y="4190878"/>
            <a:ext cx="1105082" cy="138696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5146" y="3237341"/>
            <a:ext cx="1105082" cy="9535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5146" y="2803916"/>
            <a:ext cx="1105082" cy="43342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8360" y="2505974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8360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5970"/>
            <a:ext cx="31394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8810" y="4190878"/>
            <a:ext cx="1105082" cy="138696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8810" y="3237341"/>
            <a:ext cx="1105082" cy="9535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8810" y="2803916"/>
            <a:ext cx="1105082" cy="43342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2024" y="2505974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2024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24586" y="4075297"/>
            <a:ext cx="1105082" cy="150254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4586" y="2977286"/>
            <a:ext cx="1105082" cy="1098011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24586" y="2428280"/>
            <a:ext cx="1105082" cy="54900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130338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9520" y="5855970"/>
            <a:ext cx="31394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8250" y="4075297"/>
            <a:ext cx="1105082" cy="150254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8250" y="2977286"/>
            <a:ext cx="1105082" cy="1098011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8250" y="2399385"/>
            <a:ext cx="1105082" cy="57790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1464" y="2101443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1464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64026" y="3930822"/>
            <a:ext cx="1105082" cy="1647017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4026" y="2688336"/>
            <a:ext cx="1105082" cy="124248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4026" y="1965960"/>
            <a:ext cx="1105082" cy="7223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7240" y="1668018"/>
            <a:ext cx="14386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7240" y="5637657"/>
            <a:ext cx="14386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8960" y="5855970"/>
            <a:ext cx="31394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5896" y="4620981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5896" y="3176229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35896" y="2193798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777480" y="1709928"/>
            <a:ext cx="1144016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8880348" y="166878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700776" y="1508760"/>
            <a:ext cx="207670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Actual +14% vs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Pilot stores lift sales by 12–18%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Error bars show 95% confidence interval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252156" y="2700429"/>
            <a:ext cx="1496187" cy="306029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00250" y="2578018"/>
            <a:ext cx="0" cy="24482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908810" y="2578018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908810" y="2822841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40080" y="2280076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8538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2496" y="2333194"/>
            <a:ext cx="1496187" cy="342752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720590" y="2180180"/>
            <a:ext cx="0" cy="3060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4629150" y="21801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629150" y="2486209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360420" y="1882238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420" y="5828538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Pilot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2836" y="2149577"/>
            <a:ext cx="1496187" cy="361114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440929" y="1965959"/>
            <a:ext cx="0" cy="367235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349490" y="1965959"/>
            <a:ext cx="18287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49490" y="2333194"/>
            <a:ext cx="18287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080759" y="1668017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5828538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Pilot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3176" y="2241386"/>
            <a:ext cx="1496187" cy="351933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0161269" y="2149577"/>
            <a:ext cx="0" cy="183617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0069830" y="2149577"/>
            <a:ext cx="18287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0069830" y="2333194"/>
            <a:ext cx="18287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801099" y="1851635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1099" y="5828538"/>
            <a:ext cx="27203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Pilot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Q4 is the strongest quarter in both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81888" y="3374630"/>
            <a:ext cx="725424" cy="206604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7668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90928" y="3092896"/>
            <a:ext cx="725424" cy="234778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9120" y="2794954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912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9968" y="3186807"/>
            <a:ext cx="725424" cy="225387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8160" y="2888865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816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9008" y="2529428"/>
            <a:ext cx="725424" cy="291125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199" y="2231486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199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7087" y="2998984"/>
            <a:ext cx="725424" cy="244169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5279" y="2701042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5279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6128" y="2717250"/>
            <a:ext cx="725424" cy="272342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320" y="241930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32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2811162"/>
            <a:ext cx="725424" cy="262951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3360" y="2513220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336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54208" y="1965960"/>
            <a:ext cx="725424" cy="347472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12400" y="166801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0" y="550849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Q4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440680"/>
            <a:ext cx="4744719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685800" y="5852160"/>
            <a:ext cx="4744719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40080" y="5901690"/>
            <a:ext cx="4836159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30999" y="5440680"/>
            <a:ext cx="474472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6730999" y="5852160"/>
            <a:ext cx="4744721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685279" y="5901690"/>
            <a:ext cx="4836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Three of five regions hit their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184148" y="2377440"/>
            <a:ext cx="1088136" cy="338327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4419" y="2637692"/>
            <a:ext cx="1307593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2061209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North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420" y="3288323"/>
            <a:ext cx="1088136" cy="2472396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50691" y="3028070"/>
            <a:ext cx="1307592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2816351" y="2711840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20603"/>
                </a:solidFill>
                <a:latin typeface="Arial"/>
              </a:rP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1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South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6692" y="2702755"/>
            <a:ext cx="1088136" cy="305796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26964" y="2832881"/>
            <a:ext cx="1307591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992623" y="2386525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3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2963" y="3873890"/>
            <a:ext cx="1088136" cy="188682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3236" y="3483512"/>
            <a:ext cx="1307592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168896" y="3167282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20603"/>
                </a:solidFill>
                <a:latin typeface="Arial"/>
              </a:rPr>
              <a:t>-17%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West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89235" y="3093133"/>
            <a:ext cx="1088136" cy="266758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79507" y="3158196"/>
            <a:ext cx="1307592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345167" y="2776903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7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Central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1709928"/>
            <a:ext cx="365760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1097280" y="1576578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1636776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1576578"/>
            <a:ext cx="11887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≥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1636776"/>
            <a:ext cx="146304" cy="14630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1576578"/>
            <a:ext cx="11887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&lt; target</a:t>
            </a:r>
          </a:p>
        </p:txBody>
      </p:sp>
      <p:sp>
        <p:nvSpPr>
          <p:cNvPr id="32" name="Oval 31"/>
          <p:cNvSpPr/>
          <p:nvPr/>
        </p:nvSpPr>
        <p:spPr>
          <a:xfrm>
            <a:off x="7845552" y="3094892"/>
            <a:ext cx="822960" cy="41148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8501888" y="2450240"/>
            <a:ext cx="87376" cy="71628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8460740" y="312537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89264" y="2047904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Two key accounts lost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Revenue doubled from 2010 to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9431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28700" y="3882125"/>
            <a:ext cx="1165860" cy="187859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84183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28538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3180" y="5760720"/>
            <a:ext cx="528066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3056382" y="5650992"/>
            <a:ext cx="109728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166110" y="5650992"/>
            <a:ext cx="109728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220974" y="5760720"/>
            <a:ext cx="2471166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137659" y="2830113"/>
            <a:ext cx="1165860" cy="293060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532171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5828538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92140" y="5760720"/>
            <a:ext cx="19431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080759" y="2529538"/>
            <a:ext cx="1165860" cy="323118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2140" y="2231596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2140" y="5828538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35240" y="5760720"/>
            <a:ext cx="19431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8023860" y="2228963"/>
            <a:ext cx="1165860" cy="353175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931021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828538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78340" y="5760720"/>
            <a:ext cx="19431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9966960" y="1965959"/>
            <a:ext cx="1165860" cy="37947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8340" y="1668017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8340" y="5828538"/>
            <a:ext cx="19431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756918" y="2729981"/>
            <a:ext cx="553720" cy="85344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1715770" y="3542273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10638" y="2327645"/>
            <a:ext cx="207670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Pre-merger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Revenue exceeds the 5-year average from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80644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40080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4665268"/>
            <a:ext cx="1130198" cy="1141171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812" y="3952036"/>
            <a:ext cx="1130198" cy="71323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812" y="3666744"/>
            <a:ext cx="1130198" cy="28529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8802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4551151"/>
            <a:ext cx="1130198" cy="125528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0476" y="3752331"/>
            <a:ext cx="1130198" cy="79881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476" y="3409980"/>
            <a:ext cx="1130198" cy="34235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1120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4437034"/>
            <a:ext cx="1130198" cy="1369405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4140" y="3495568"/>
            <a:ext cx="1130198" cy="94146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4140" y="3067629"/>
            <a:ext cx="1130198" cy="42793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76968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804" y="4322917"/>
            <a:ext cx="1130198" cy="1483522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7804" y="3238804"/>
            <a:ext cx="1130198" cy="108411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804" y="2696748"/>
            <a:ext cx="1130198" cy="54205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398806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87425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4180271"/>
            <a:ext cx="1130198" cy="162616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1468" y="2953512"/>
            <a:ext cx="1130198" cy="122675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1468" y="2240279"/>
            <a:ext cx="1130198" cy="71323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194233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1395" y="486000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1395" y="3433541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1395" y="2463545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Seg 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016276"/>
            <a:ext cx="9418319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35" name="TextBox 34"/>
          <p:cNvSpPr txBox="1"/>
          <p:nvPr/>
        </p:nvSpPr>
        <p:spPr>
          <a:xfrm>
            <a:off x="10104119" y="2882926"/>
            <a:ext cx="1280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Avg 97.8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瀑布图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7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Volume and price more than offset FX and other headwinds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02792" y="2990822"/>
            <a:ext cx="1088136" cy="276989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90928" y="2990822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2816352" y="2575337"/>
            <a:ext cx="1088136" cy="41548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7" y="2575337"/>
            <a:ext cx="72542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4629912" y="1965959"/>
            <a:ext cx="1088136" cy="60937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Volume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8048" y="1965959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6443472" y="1965959"/>
            <a:ext cx="1088136" cy="221591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31608" y="2187551"/>
            <a:ext cx="725423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8257031" y="2187551"/>
            <a:ext cx="1088136" cy="110795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4320" y="2311301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32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45168" y="2298347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2" name="Rectangle 21"/>
          <p:cNvSpPr/>
          <p:nvPr/>
        </p:nvSpPr>
        <p:spPr>
          <a:xfrm>
            <a:off x="10070591" y="2298347"/>
            <a:ext cx="1088136" cy="346237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7879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46860" y="1207007"/>
            <a:ext cx="0" cy="1436343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1546860" y="1207007"/>
            <a:ext cx="90678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0614660" y="1207007"/>
            <a:ext cx="0" cy="7438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27" name="Oval 26"/>
          <p:cNvSpPr/>
          <p:nvPr/>
        </p:nvSpPr>
        <p:spPr>
          <a:xfrm>
            <a:off x="5669279" y="1055877"/>
            <a:ext cx="822960" cy="3022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+25%</a:t>
            </a:r>
          </a:p>
        </p:txBody>
      </p:sp>
      <p:sp>
        <p:nvSpPr>
          <p:cNvPr id="28" name="Oval 27"/>
          <p:cNvSpPr/>
          <p:nvPr/>
        </p:nvSpPr>
        <p:spPr>
          <a:xfrm>
            <a:off x="4447032" y="1645919"/>
            <a:ext cx="1453895" cy="1203737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173980" y="1965959"/>
            <a:ext cx="0" cy="1810513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5132832" y="1924811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43172" y="3776472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New customers in Asia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EBIT bridge with signed labels and sign 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02792" y="2896750"/>
            <a:ext cx="1088136" cy="286396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EBIT 2024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90928" y="2896750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2816352" y="2252356"/>
            <a:ext cx="1088136" cy="64439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+9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7" y="2252356"/>
            <a:ext cx="72542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4629912" y="1965959"/>
            <a:ext cx="1088136" cy="28639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+4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8048" y="1965959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6443472" y="1965959"/>
            <a:ext cx="1088136" cy="787591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Input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31608" y="2753551"/>
            <a:ext cx="725423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8257031" y="2753551"/>
            <a:ext cx="1088136" cy="214797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Opex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45168" y="2968349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1" name="Rectangle 20"/>
          <p:cNvSpPr/>
          <p:nvPr/>
        </p:nvSpPr>
        <p:spPr>
          <a:xfrm>
            <a:off x="10070591" y="2968349"/>
            <a:ext cx="1088136" cy="279237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7879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EBIT 2025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87540" y="1965959"/>
            <a:ext cx="0" cy="1810513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6946392" y="1924811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56731" y="3776472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Commodity spike in H1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Where the revenue goes: cost build-down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600200"/>
            <a:ext cx="0" cy="4526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834639" y="1751076"/>
            <a:ext cx="7955279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79" y="18440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Revenue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89919" y="2203704"/>
            <a:ext cx="0" cy="301752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7289596" y="2505456"/>
            <a:ext cx="3500323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2598419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COGS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89596" y="2958084"/>
            <a:ext cx="0" cy="301752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5507614" y="3259836"/>
            <a:ext cx="1781982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335280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SG&amp;A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07614" y="3712463"/>
            <a:ext cx="0" cy="301753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4743907" y="4014216"/>
            <a:ext cx="763706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1071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R&amp;D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43907" y="4466844"/>
            <a:ext cx="0" cy="301752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4362053" y="4768596"/>
            <a:ext cx="381853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3907" y="486156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" y="486156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D&amp;A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62053" y="5221224"/>
            <a:ext cx="0" cy="301752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2" name="Rectangle 21"/>
          <p:cNvSpPr/>
          <p:nvPr/>
        </p:nvSpPr>
        <p:spPr>
          <a:xfrm>
            <a:off x="2834639" y="5522976"/>
            <a:ext cx="1527413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" y="56159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EBIT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Both products contributed to growth; B more from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16812" y="4706156"/>
            <a:ext cx="1130198" cy="1054563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812" y="3124311"/>
            <a:ext cx="1130198" cy="158184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26369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285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7011" y="3124311"/>
            <a:ext cx="75346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1" name="Rectangle 10"/>
          <p:cNvSpPr/>
          <p:nvPr/>
        </p:nvSpPr>
        <p:spPr>
          <a:xfrm>
            <a:off x="2900476" y="2860670"/>
            <a:ext cx="1130198" cy="263640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0476" y="2728849"/>
            <a:ext cx="1130198" cy="13182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43090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+15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58285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0675" y="2728849"/>
            <a:ext cx="75346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6" name="Rectangle 15"/>
          <p:cNvSpPr/>
          <p:nvPr/>
        </p:nvSpPr>
        <p:spPr>
          <a:xfrm>
            <a:off x="4784140" y="2517937"/>
            <a:ext cx="1130198" cy="21091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4140" y="2148840"/>
            <a:ext cx="1130198" cy="36909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85089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+22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58285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Volume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4339" y="2148840"/>
            <a:ext cx="75346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1" name="Rectangle 20"/>
          <p:cNvSpPr/>
          <p:nvPr/>
        </p:nvSpPr>
        <p:spPr>
          <a:xfrm>
            <a:off x="6667804" y="2280660"/>
            <a:ext cx="1130198" cy="7909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804" y="2148840"/>
            <a:ext cx="1130198" cy="13182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850897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58285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98003" y="2359752"/>
            <a:ext cx="75346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6" name="Rectangle 25"/>
          <p:cNvSpPr/>
          <p:nvPr/>
        </p:nvSpPr>
        <p:spPr>
          <a:xfrm>
            <a:off x="8551468" y="4310695"/>
            <a:ext cx="1130198" cy="145002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1468" y="2359752"/>
            <a:ext cx="1130198" cy="195094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061810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5828538"/>
            <a:ext cx="18836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3107" y="4902357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Product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3107" y="3201873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Product 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From revenue to net income with two subtotals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881888" y="1965959"/>
            <a:ext cx="725424" cy="37947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Revenue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7312" y="1965959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2090928" y="1965959"/>
            <a:ext cx="725424" cy="1669694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912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COGS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16352" y="3635654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3299968" y="3635654"/>
            <a:ext cx="725424" cy="212506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816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Gross profit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5392" y="3635654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4509008" y="3635654"/>
            <a:ext cx="725424" cy="850026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199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SG&amp;A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34432" y="4485680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5718048" y="4485680"/>
            <a:ext cx="725424" cy="364296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624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R&amp;D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43472" y="4849977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1" name="Rectangle 20"/>
          <p:cNvSpPr/>
          <p:nvPr/>
        </p:nvSpPr>
        <p:spPr>
          <a:xfrm>
            <a:off x="6927088" y="4849977"/>
            <a:ext cx="725424" cy="91074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528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EBIT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52512" y="4849977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4" name="Rectangle 23"/>
          <p:cNvSpPr/>
          <p:nvPr/>
        </p:nvSpPr>
        <p:spPr>
          <a:xfrm>
            <a:off x="8136128" y="4849977"/>
            <a:ext cx="725424" cy="121432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4320" y="4984363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32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Interest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1552" y="4971409"/>
            <a:ext cx="483616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8" name="Rectangle 27"/>
          <p:cNvSpPr/>
          <p:nvPr/>
        </p:nvSpPr>
        <p:spPr>
          <a:xfrm>
            <a:off x="9345167" y="4971409"/>
            <a:ext cx="725424" cy="18214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3359" y="5166512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3359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Tax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70591" y="5153558"/>
            <a:ext cx="483617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32" name="Rectangle 31"/>
          <p:cNvSpPr/>
          <p:nvPr/>
        </p:nvSpPr>
        <p:spPr>
          <a:xfrm>
            <a:off x="10554208" y="5153558"/>
            <a:ext cx="725424" cy="60716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2400" y="5828538"/>
            <a:ext cx="1209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Net income</a:t>
            </a:r>
          </a:p>
        </p:txBody>
      </p:sp>
      <p:sp>
        <p:nvSpPr>
          <p:cNvPr id="34" name="Oval 33"/>
          <p:cNvSpPr/>
          <p:nvPr/>
        </p:nvSpPr>
        <p:spPr>
          <a:xfrm>
            <a:off x="6744208" y="4529937"/>
            <a:ext cx="1091184" cy="1505102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289800" y="3588105"/>
            <a:ext cx="792480" cy="1261872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248652" y="4808829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82280" y="3185769"/>
            <a:ext cx="17068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EBIT margin 24%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Margin expanded 2.6 pp, mostly from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/ 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02792" y="2543043"/>
            <a:ext cx="1088136" cy="32176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Margin 2024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90928" y="2543043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2816352" y="2333194"/>
            <a:ext cx="1088136" cy="20984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+1.2pp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7" y="2333194"/>
            <a:ext cx="725425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4629912" y="1965959"/>
            <a:ext cx="1088136" cy="36723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+2.1pp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8048" y="1965959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6443472" y="1965959"/>
            <a:ext cx="1088136" cy="262310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-1.5pp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Input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31608" y="2228270"/>
            <a:ext cx="725423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8257031" y="2088371"/>
            <a:ext cx="1088136" cy="13989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4320" y="1808717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+0.8pp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320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45168" y="2088371"/>
            <a:ext cx="72542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22" name="Rectangle 21"/>
          <p:cNvSpPr/>
          <p:nvPr/>
        </p:nvSpPr>
        <p:spPr>
          <a:xfrm>
            <a:off x="10070591" y="2088371"/>
            <a:ext cx="1088136" cy="367234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21.0%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7879" y="5828538"/>
            <a:ext cx="18135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Margin 2025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73980" y="1965959"/>
            <a:ext cx="0" cy="1810513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132832" y="1924811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58260" y="3776472"/>
            <a:ext cx="263144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Premium range +40% volume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Cash bridge: free cash flow turns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128260"/>
            <a:ext cx="108813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075334" y="1965959"/>
            <a:ext cx="1305763" cy="316230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EBITDA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81097" y="1965959"/>
            <a:ext cx="870509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9" name="Rectangle 8"/>
          <p:cNvSpPr/>
          <p:nvPr/>
        </p:nvSpPr>
        <p:spPr>
          <a:xfrm>
            <a:off x="3251606" y="1965959"/>
            <a:ext cx="1305763" cy="2319020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1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Capex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57369" y="4284980"/>
            <a:ext cx="870509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5427878" y="4284980"/>
            <a:ext cx="1305763" cy="9486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3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Working cap.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33641" y="5233669"/>
            <a:ext cx="870509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7604150" y="5233669"/>
            <a:ext cx="1305763" cy="527050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Tax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09913" y="5760720"/>
            <a:ext cx="870509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9780422" y="5128260"/>
            <a:ext cx="1305763" cy="632459"/>
          </a:xfrm>
          <a:prstGeom prst="rect">
            <a:avLst/>
          </a:prstGeom>
          <a:solidFill>
            <a:srgbClr val="691413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5828538"/>
            <a:ext cx="21762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FCF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904487" y="1911095"/>
            <a:ext cx="1612393" cy="54864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3863339" y="1924811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16880" y="1508760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Capex peak: new plant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Mekko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4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Brand A leads in the largest market, China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($B /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562737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4877562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" y="4127754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3377946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2628138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87833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649730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100% =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5760720"/>
            <a:ext cx="86868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280160" y="5385816"/>
            <a:ext cx="4343400" cy="374904"/>
          </a:xfrm>
          <a:prstGeom prst="rect">
            <a:avLst/>
          </a:prstGeom>
          <a:solidFill>
            <a:srgbClr val="E87722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636007"/>
            <a:ext cx="4343400" cy="749808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511296"/>
            <a:ext cx="4343400" cy="1124711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011680"/>
            <a:ext cx="4343400" cy="1499616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695450"/>
            <a:ext cx="4343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28538"/>
            <a:ext cx="4343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China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5198364"/>
            <a:ext cx="2606040" cy="562355"/>
          </a:xfrm>
          <a:prstGeom prst="rect">
            <a:avLst/>
          </a:prstGeom>
          <a:solidFill>
            <a:srgbClr val="E87722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4261104"/>
            <a:ext cx="2606040" cy="937259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948940"/>
            <a:ext cx="2606040" cy="1312164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2011680"/>
            <a:ext cx="2606040" cy="937259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695450"/>
            <a:ext cx="2606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5828538"/>
            <a:ext cx="2606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010912"/>
            <a:ext cx="1737360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86200"/>
            <a:ext cx="1737360" cy="1124711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136392"/>
            <a:ext cx="1737360" cy="749808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011680"/>
            <a:ext cx="1737360" cy="1124711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95450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828538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25246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Others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1520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Brand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377945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Brand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44068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Brand 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US is smaller, with Brand B ahead of Brand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562737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4877562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" y="4127754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3377946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2628138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87833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011680"/>
            <a:ext cx="0" cy="374904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280160" y="5760720"/>
            <a:ext cx="86868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280160" y="4636008"/>
            <a:ext cx="4343400" cy="1124711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511296"/>
            <a:ext cx="4343400" cy="1124711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011680"/>
            <a:ext cx="4343400" cy="1499616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695450"/>
            <a:ext cx="4343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28538"/>
            <a:ext cx="4343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China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4860950"/>
            <a:ext cx="2606040" cy="899769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4073652"/>
            <a:ext cx="2606040" cy="787298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3511296"/>
            <a:ext cx="2606040" cy="562355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195066"/>
            <a:ext cx="2606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828538"/>
            <a:ext cx="2606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5010912"/>
            <a:ext cx="1737360" cy="749808"/>
          </a:xfrm>
          <a:prstGeom prst="rect">
            <a:avLst/>
          </a:prstGeom>
          <a:solidFill>
            <a:srgbClr val="F8BA00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710988"/>
            <a:ext cx="1737360" cy="299923"/>
          </a:xfrm>
          <a:prstGeom prst="rect">
            <a:avLst/>
          </a:prstGeom>
          <a:solidFill>
            <a:srgbClr val="6C89B4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261104"/>
            <a:ext cx="1737360" cy="449884"/>
          </a:xfrm>
          <a:prstGeom prst="rect">
            <a:avLst/>
          </a:prstGeom>
          <a:solidFill>
            <a:srgbClr val="00507D"/>
          </a:solidFill>
          <a:ln w="1270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944874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28538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25246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Others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727600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Brand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35269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Brand 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Large segments have the lowest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(Margin %; width = revenue 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544449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4623608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" y="3802726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2981844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2160962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5577840"/>
            <a:ext cx="996696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280160" y="1965960"/>
            <a:ext cx="0" cy="36118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1280160" y="4264429"/>
            <a:ext cx="3986784" cy="1313410"/>
          </a:xfrm>
          <a:prstGeom prst="rect">
            <a:avLst/>
          </a:prstGeom>
          <a:solidFill>
            <a:srgbClr val="C6C0C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66487"/>
            <a:ext cx="3986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27370"/>
            <a:ext cx="3986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Retail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84545"/>
            <a:ext cx="3986784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3771900"/>
            <a:ext cx="2491740" cy="1805940"/>
          </a:xfrm>
          <a:prstGeom prst="rect">
            <a:avLst/>
          </a:prstGeom>
          <a:solidFill>
            <a:srgbClr val="C6C0C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3473957"/>
            <a:ext cx="24917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5627370"/>
            <a:ext cx="24917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Wholesale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5884545"/>
            <a:ext cx="24917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8683" y="2622665"/>
            <a:ext cx="1495044" cy="2955174"/>
          </a:xfrm>
          <a:prstGeom prst="rect">
            <a:avLst/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8683" y="2324723"/>
            <a:ext cx="149504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683" y="5627370"/>
            <a:ext cx="149504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8683" y="5884545"/>
            <a:ext cx="1495044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1965960"/>
            <a:ext cx="1196035" cy="3611880"/>
          </a:xfrm>
          <a:prstGeom prst="rect">
            <a:avLst/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668018"/>
            <a:ext cx="1196035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5627370"/>
            <a:ext cx="1196035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B2B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5884545"/>
            <a:ext cx="1196035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49763" y="3115194"/>
            <a:ext cx="797356" cy="2462645"/>
          </a:xfrm>
          <a:prstGeom prst="rect">
            <a:avLst/>
          </a:prstGeom>
          <a:solidFill>
            <a:srgbClr val="C6C0C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9763" y="2817252"/>
            <a:ext cx="79735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9763" y="5646420"/>
            <a:ext cx="797356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9763" y="5884545"/>
            <a:ext cx="797356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6103620"/>
            <a:ext cx="3657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  <a:latin typeface="Arial"/>
              </a:rPr>
              <a:t>Width = market size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838285" y="1709928"/>
            <a:ext cx="818388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9615525" y="166878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44565" y="1508760"/>
            <a:ext cx="309372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B2B: small but most profitable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Global market dwarfs our core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59" y="1965960"/>
            <a:ext cx="3703320" cy="370332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5737098"/>
            <a:ext cx="3703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Global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3327094"/>
            <a:ext cx="2342185" cy="2342185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5737098"/>
            <a:ext cx="2342185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599985" y="3912641"/>
            <a:ext cx="1756638" cy="175663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9985" y="5737098"/>
            <a:ext cx="175663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China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2384" y="5027846"/>
            <a:ext cx="641433" cy="641433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4461" y="5737098"/>
            <a:ext cx="10972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Our sales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条形图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6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Keyboards are the best-selling accessory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(k units)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600200"/>
            <a:ext cx="0" cy="4526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834639" y="1751076"/>
            <a:ext cx="7772400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0192" y="184404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8440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Keyboards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505456"/>
            <a:ext cx="6338656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6448" y="2598419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598419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Headphones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3259836"/>
            <a:ext cx="4678532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6324" y="335280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335280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4014216"/>
            <a:ext cx="4225770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3562" y="410718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1071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Webcams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4768596"/>
            <a:ext cx="2867487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5279" y="486156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" y="486156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Monitors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5522976"/>
            <a:ext cx="1811044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836" y="561594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" y="56159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Docks</a:t>
            </a:r>
          </a:p>
        </p:txBody>
      </p:sp>
      <p:sp>
        <p:nvSpPr>
          <p:cNvPr id="24" name="Oval 23"/>
          <p:cNvSpPr/>
          <p:nvPr/>
        </p:nvSpPr>
        <p:spPr>
          <a:xfrm>
            <a:off x="10463784" y="1771650"/>
            <a:ext cx="731520" cy="41148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5063260" y="5493258"/>
            <a:ext cx="1144016" cy="1219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022112" y="557403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7276" y="5090922"/>
            <a:ext cx="207670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Docks: review range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Sorted: Mice overtook Webcams in 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(k units)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600200"/>
            <a:ext cx="0" cy="4526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834639" y="1781251"/>
            <a:ext cx="7772400" cy="54315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0192" y="1919478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919478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Keyboards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686507"/>
            <a:ext cx="4678532" cy="54315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6324" y="2824733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824733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3591763"/>
            <a:ext cx="4225770" cy="54315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3562" y="372999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372999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Webcams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4497019"/>
            <a:ext cx="2867487" cy="54315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5279" y="4635246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635246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Monitors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5402275"/>
            <a:ext cx="1811044" cy="54315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836" y="5540502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" y="5540502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Docks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30748" y="3092195"/>
            <a:ext cx="404515" cy="1219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89600" y="3051048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5263" y="3214115"/>
            <a:ext cx="318617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Bundle with laptops lifted Mice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Online now exceeds in-store in every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920240"/>
            <a:ext cx="0" cy="420624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834639" y="2130552"/>
            <a:ext cx="4507992" cy="63093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42632" y="2130552"/>
            <a:ext cx="3264408" cy="6309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231267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231267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North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3182112"/>
            <a:ext cx="3808476" cy="63093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3116" y="3182112"/>
            <a:ext cx="2798064" cy="6309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4332" y="336423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336423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South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4233672"/>
            <a:ext cx="4274820" cy="63093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9460" y="4233672"/>
            <a:ext cx="3108960" cy="6309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1572" y="441579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41579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East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5285232"/>
            <a:ext cx="3264408" cy="63093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8" y="5285232"/>
            <a:ext cx="2564892" cy="6309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092" y="546735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546735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600200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1600200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38528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In-store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All categories grew except Mice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(k units)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2011680"/>
            <a:ext cx="0" cy="41148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0149840" y="160401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Δ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2159812"/>
            <a:ext cx="6051019" cy="2057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39" y="2382012"/>
            <a:ext cx="6492240" cy="2715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8811" y="2144268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32" y="238033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515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28981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+7%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228981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Keyboards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2982772"/>
            <a:ext cx="4412201" cy="2057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3204972"/>
            <a:ext cx="5294642" cy="2715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9993" y="2967228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350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434" y="320329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11277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+20%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" y="311277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Headphones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3805732"/>
            <a:ext cx="4160076" cy="2057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39" y="4027932"/>
            <a:ext cx="3907950" cy="2715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7868" y="3790188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330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5742" y="402625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93573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20603"/>
                </a:solidFill>
                <a:latin typeface="Arial"/>
              </a:rPr>
              <a:t>-6%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" y="393573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4628692"/>
            <a:ext cx="2773384" cy="2057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39" y="4850892"/>
            <a:ext cx="3529761" cy="2715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1176" y="4613148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220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553" y="484921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75869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+27%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" y="475869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Webcams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5451652"/>
            <a:ext cx="2017006" cy="2057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39" y="5673852"/>
            <a:ext cx="2395195" cy="27157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4798" y="5436108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160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2987" y="567217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581650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+19%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" y="558165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Monitors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1636776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1576578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1636776"/>
            <a:ext cx="146304" cy="14630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38528" y="1576578"/>
            <a:ext cx="9144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1" name="Oval 40"/>
          <p:cNvSpPr/>
          <p:nvPr/>
        </p:nvSpPr>
        <p:spPr>
          <a:xfrm>
            <a:off x="10241280" y="3877056"/>
            <a:ext cx="731520" cy="384048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9866884" y="4203192"/>
            <a:ext cx="545083" cy="16764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10370819" y="416204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58075" y="4370832"/>
            <a:ext cx="290880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Price war with private label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Margin change by business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75395" y="1600200"/>
            <a:ext cx="0" cy="4526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6475395" y="1751076"/>
            <a:ext cx="3891012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560" y="184404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+4.2pp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835" y="18440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5395" y="2505456"/>
            <a:ext cx="1945506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4054" y="2598419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+2.1pp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0835" y="2598419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5395" y="3259836"/>
            <a:ext cx="741145" cy="4526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9693" y="335280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+0.8pp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0835" y="335280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5748" y="4014216"/>
            <a:ext cx="1389647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9636" y="410718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-1.5pp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6835" y="41071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4030" y="4768596"/>
            <a:ext cx="2501365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7918" y="486156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-2.7pp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835" y="486156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Hardware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5528" y="5522976"/>
            <a:ext cx="3149867" cy="45262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9416" y="561594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-3.4pp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835" y="561594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Licensing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609248" y="4944618"/>
            <a:ext cx="0" cy="67056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2568100" y="557403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542282"/>
            <a:ext cx="263144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Legacy contracts expiring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Two-thirds of customers are satisfied with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respondents)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2176272"/>
            <a:ext cx="2523744" cy="493776"/>
          </a:xfrm>
          <a:prstGeom prst="rect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358383" y="2176272"/>
            <a:ext cx="3028492" cy="493776"/>
          </a:xfrm>
          <a:prstGeom prst="rect">
            <a:avLst/>
          </a:prstGeom>
          <a:solidFill>
            <a:srgbClr val="98ADC9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36%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6876" y="2176272"/>
            <a:ext cx="1682496" cy="493776"/>
          </a:xfrm>
          <a:prstGeom prst="rect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69372" y="2176272"/>
            <a:ext cx="1177747" cy="493776"/>
          </a:xfrm>
          <a:prstGeom prst="rect">
            <a:avLst/>
          </a:prstGeom>
          <a:solidFill>
            <a:srgbClr val="A20603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228981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2999232"/>
            <a:ext cx="1261872" cy="493776"/>
          </a:xfrm>
          <a:prstGeom prst="rect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96511" y="2999232"/>
            <a:ext cx="2523744" cy="493776"/>
          </a:xfrm>
          <a:prstGeom prst="rect">
            <a:avLst/>
          </a:prstGeom>
          <a:solidFill>
            <a:srgbClr val="98ADC9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5" y="2999232"/>
            <a:ext cx="2523744" cy="493776"/>
          </a:xfrm>
          <a:prstGeom prst="rect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999232"/>
            <a:ext cx="2103120" cy="493776"/>
          </a:xfrm>
          <a:prstGeom prst="rect">
            <a:avLst/>
          </a:prstGeom>
          <a:solidFill>
            <a:srgbClr val="A20603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311277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3822191"/>
            <a:ext cx="2103120" cy="493776"/>
          </a:xfrm>
          <a:prstGeom prst="rect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3822191"/>
            <a:ext cx="2944368" cy="493776"/>
          </a:xfrm>
          <a:prstGeom prst="rect">
            <a:avLst/>
          </a:prstGeom>
          <a:solidFill>
            <a:srgbClr val="98ADC9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822191"/>
            <a:ext cx="1850745" cy="493776"/>
          </a:xfrm>
          <a:prstGeom prst="rect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2873" y="3822191"/>
            <a:ext cx="1514246" cy="493776"/>
          </a:xfrm>
          <a:prstGeom prst="rect">
            <a:avLst/>
          </a:prstGeom>
          <a:solidFill>
            <a:srgbClr val="A20603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393573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4645152"/>
            <a:ext cx="1682496" cy="493776"/>
          </a:xfrm>
          <a:prstGeom prst="rect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6" y="4645152"/>
            <a:ext cx="3364992" cy="493776"/>
          </a:xfrm>
          <a:prstGeom prst="rect">
            <a:avLst/>
          </a:prstGeom>
          <a:solidFill>
            <a:srgbClr val="98ADC9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7" y="4645152"/>
            <a:ext cx="2103120" cy="493776"/>
          </a:xfrm>
          <a:prstGeom prst="rect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85247" y="4645152"/>
            <a:ext cx="1261872" cy="493776"/>
          </a:xfrm>
          <a:prstGeom prst="rect">
            <a:avLst/>
          </a:prstGeom>
          <a:solidFill>
            <a:srgbClr val="A20603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" y="475869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Product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5468112"/>
            <a:ext cx="1009497" cy="493776"/>
          </a:xfrm>
          <a:prstGeom prst="rect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4137" y="5468112"/>
            <a:ext cx="2355494" cy="493776"/>
          </a:xfrm>
          <a:prstGeom prst="rect">
            <a:avLst/>
          </a:prstGeom>
          <a:solidFill>
            <a:srgbClr val="98ADC9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1" y="5468112"/>
            <a:ext cx="2523744" cy="493776"/>
          </a:xfrm>
          <a:prstGeom prst="rect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3376" y="5468112"/>
            <a:ext cx="2523744" cy="493776"/>
          </a:xfrm>
          <a:prstGeom prst="rect">
            <a:avLst/>
          </a:prstGeom>
          <a:solidFill>
            <a:srgbClr val="A20603"/>
          </a:solidFill>
          <a:ln w="9525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" y="558165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1636776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5808" y="1576578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Very satisfied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636776"/>
            <a:ext cx="146304" cy="146304"/>
          </a:xfrm>
          <a:prstGeom prst="rect">
            <a:avLst/>
          </a:prstGeom>
          <a:solidFill>
            <a:srgbClr val="98AD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7" y="1576578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Satisfied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636776"/>
            <a:ext cx="146304" cy="14630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7" y="1576578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Neutral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59" y="1636776"/>
            <a:ext cx="146304" cy="146304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4927" y="1576578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Dissatisfied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对比图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3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Men and women value different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respondents)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8290"/>
            <a:ext cx="4251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558290"/>
            <a:ext cx="4251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19" y="2132380"/>
            <a:ext cx="3703320" cy="49926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224866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2132380"/>
            <a:ext cx="3464396" cy="49926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25316" y="224866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48662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6836" y="2964484"/>
            <a:ext cx="3285203" cy="49926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876" y="308076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964484"/>
            <a:ext cx="2926817" cy="49926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737" y="308076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80765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Battery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2801" y="3796588"/>
            <a:ext cx="2389238" cy="49926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9841" y="391287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796588"/>
            <a:ext cx="3643589" cy="49926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4509" y="391287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1287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Camera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9572" y="4628692"/>
            <a:ext cx="1672467" cy="49926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6612" y="4744973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628692"/>
            <a:ext cx="3106010" cy="49926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6930" y="4744973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744973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Design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01456" y="5460796"/>
            <a:ext cx="2090583" cy="49926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78496" y="5577078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5460796"/>
            <a:ext cx="1791929" cy="499262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2849" y="5577078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77078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Brand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92040" y="1965960"/>
            <a:ext cx="0" cy="416052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7269480" y="1965960"/>
            <a:ext cx="0" cy="416052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34" name="Rounded Rectangle 33"/>
          <p:cNvSpPr/>
          <p:nvPr/>
        </p:nvSpPr>
        <p:spPr>
          <a:xfrm>
            <a:off x="4983480" y="3794759"/>
            <a:ext cx="2194560" cy="502920"/>
          </a:xfrm>
          <a:prstGeom prst="roundRect">
            <a:avLst/>
          </a:prstGeom>
          <a:noFill/>
          <a:ln w="19050">
            <a:solidFill>
              <a:srgbClr val="A2060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958789" y="3561587"/>
            <a:ext cx="0" cy="350521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10917641" y="3870960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44736" y="3159251"/>
            <a:ext cx="207670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21 pp gap on camera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NPS improved in all channels, most in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(NPS)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79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39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8775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4535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768671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34431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418566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84326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068462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34222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40079" y="23926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App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64410" y="2526030"/>
            <a:ext cx="3794760" cy="0"/>
          </a:xfrm>
          <a:prstGeom prst="line">
            <a:avLst/>
          </a:prstGeom>
          <a:ln w="25400">
            <a:solidFill>
              <a:srgbClr val="C0C0C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6382114" y="2443734"/>
            <a:ext cx="164592" cy="164592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76874" y="2443734"/>
            <a:ext cx="164592" cy="164592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050" y="23926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4890" y="23926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34213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Web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84326" y="3554730"/>
            <a:ext cx="1319917" cy="0"/>
          </a:xfrm>
          <a:prstGeom prst="line">
            <a:avLst/>
          </a:prstGeom>
          <a:ln w="25400">
            <a:solidFill>
              <a:srgbClr val="C0C0C0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702030" y="3472434"/>
            <a:ext cx="164592" cy="164592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21947" y="3472434"/>
            <a:ext cx="164592" cy="164592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9966" y="34213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9963" y="34213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" y="44500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99212" y="4583430"/>
            <a:ext cx="824948" cy="0"/>
          </a:xfrm>
          <a:prstGeom prst="line">
            <a:avLst/>
          </a:prstGeom>
          <a:ln w="25400">
            <a:solidFill>
              <a:srgbClr val="C0C0C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9516916" y="4501134"/>
            <a:ext cx="164592" cy="164592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41864" y="4501134"/>
            <a:ext cx="164592" cy="164592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4852" y="44500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44500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" y="547878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Call center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14514" y="5612130"/>
            <a:ext cx="1319917" cy="0"/>
          </a:xfrm>
          <a:prstGeom prst="line">
            <a:avLst/>
          </a:prstGeom>
          <a:ln w="25400">
            <a:solidFill>
              <a:srgbClr val="C0C0C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732218" y="5529834"/>
            <a:ext cx="164592" cy="164592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52135" y="5529834"/>
            <a:ext cx="164592" cy="164592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0154" y="54787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0151" y="5478780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1600200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1600200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55648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33922" y="2660142"/>
            <a:ext cx="0" cy="21336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10392774" y="261899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59823" y="2873502"/>
            <a:ext cx="226161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Biggest gain: +23 pts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Valuation range: DCF supports the offer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 per share)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79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39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840604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06365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212329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78090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9584055" y="61760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49815" y="2011680"/>
            <a:ext cx="0" cy="4114800"/>
          </a:xfrm>
          <a:prstGeom prst="line">
            <a:avLst/>
          </a:prstGeom>
          <a:ln w="3175">
            <a:solidFill>
              <a:srgbClr val="C0C0C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79" y="228981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52-week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7675" y="2217420"/>
            <a:ext cx="4269104" cy="4114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3003" y="2289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9932" y="2289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311277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Trading comps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6365" y="3040380"/>
            <a:ext cx="2846070" cy="4114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1693" y="311277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587" y="311277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393573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Precedent deals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863340"/>
            <a:ext cx="3794760" cy="4114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393573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393573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" y="475869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DCF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5055" y="4686300"/>
            <a:ext cx="3794760" cy="4114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0383" y="475869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2967" y="475869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" y="5581650"/>
            <a:ext cx="21031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LBO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2020" y="5509260"/>
            <a:ext cx="2846070" cy="4114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7348" y="558165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1242" y="558165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78090" y="1920240"/>
            <a:ext cx="0" cy="420624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34" name="TextBox 33"/>
          <p:cNvSpPr txBox="1"/>
          <p:nvPr/>
        </p:nvSpPr>
        <p:spPr>
          <a:xfrm>
            <a:off x="6663690" y="164973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Offer $25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600200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1600200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64208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71866" y="1828800"/>
            <a:ext cx="1072388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8030718" y="178765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44254" y="1627632"/>
            <a:ext cx="2354072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Offer inside DCF range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折线/面积图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7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Online traffic overtook stores in May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(k visits)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7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" y="4834267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" y="4041165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" y="3248063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" y="2454961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19" y="5760720"/>
            <a:ext cx="86868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88719" y="1874519"/>
            <a:ext cx="0" cy="388620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82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205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177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1148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3091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4062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50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Aug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88719" y="1874519"/>
            <a:ext cx="8686801" cy="2299996"/>
          </a:xfrm>
          <a:custGeom>
            <a:avLst/>
            <a:gdLst/>
            <a:ahLst/>
            <a:cxnLst/>
            <a:rect l="l" t="t" r="r" b="b"/>
            <a:pathLst>
              <a:path w="8686801" h="2299996">
                <a:moveTo>
                  <a:pt x="0" y="2299996"/>
                </a:moveTo>
                <a:lnTo>
                  <a:pt x="1240972" y="1982756"/>
                </a:lnTo>
                <a:lnTo>
                  <a:pt x="2481943" y="1744825"/>
                </a:lnTo>
                <a:lnTo>
                  <a:pt x="3722915" y="1427584"/>
                </a:lnTo>
                <a:lnTo>
                  <a:pt x="4963886" y="872413"/>
                </a:lnTo>
                <a:lnTo>
                  <a:pt x="6204858" y="555172"/>
                </a:lnTo>
                <a:lnTo>
                  <a:pt x="7445829" y="317241"/>
                </a:lnTo>
                <a:lnTo>
                  <a:pt x="8686801" y="0"/>
                </a:lnTo>
              </a:path>
            </a:pathLst>
          </a:custGeom>
          <a:noFill/>
          <a:ln w="28575">
            <a:solidFill>
              <a:srgbClr val="00507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2999" y="4128795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83971" y="3811555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24942" y="3573624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5914" y="3256383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06885" y="2701212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47857" y="2383971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88828" y="2146040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9800" y="1828799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8" y="1741170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507D"/>
                </a:solidFill>
                <a:latin typeface="Arial"/>
              </a:rPr>
              <a:t>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154000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sp>
        <p:nvSpPr>
          <p:cNvPr id="31" name="Freeform 30"/>
          <p:cNvSpPr/>
          <p:nvPr/>
        </p:nvSpPr>
        <p:spPr>
          <a:xfrm>
            <a:off x="1188719" y="2588311"/>
            <a:ext cx="8686801" cy="555172"/>
          </a:xfrm>
          <a:custGeom>
            <a:avLst/>
            <a:gdLst/>
            <a:ahLst/>
            <a:cxnLst/>
            <a:rect l="l" t="t" r="r" b="b"/>
            <a:pathLst>
              <a:path w="8686801" h="555172">
                <a:moveTo>
                  <a:pt x="0" y="0"/>
                </a:moveTo>
                <a:lnTo>
                  <a:pt x="1240972" y="79311"/>
                </a:lnTo>
                <a:lnTo>
                  <a:pt x="2481943" y="158621"/>
                </a:lnTo>
                <a:lnTo>
                  <a:pt x="3722915" y="237931"/>
                </a:lnTo>
                <a:lnTo>
                  <a:pt x="4963886" y="317241"/>
                </a:lnTo>
                <a:lnTo>
                  <a:pt x="6204858" y="396551"/>
                </a:lnTo>
                <a:lnTo>
                  <a:pt x="7445829" y="475862"/>
                </a:lnTo>
                <a:lnTo>
                  <a:pt x="8686801" y="555172"/>
                </a:lnTo>
              </a:path>
            </a:pathLst>
          </a:custGeom>
          <a:noFill/>
          <a:ln w="28575">
            <a:solidFill>
              <a:srgbClr val="6C89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2999" y="2542591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83971" y="262190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24942" y="270121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65914" y="278052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06885" y="285983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7857" y="293914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88828" y="3018453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29800" y="3097763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5248" y="3010133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C89B4"/>
                </a:solidFill>
                <a:latin typeface="Arial"/>
              </a:rPr>
              <a:t>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808965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42" name="Oval 41"/>
          <p:cNvSpPr/>
          <p:nvPr/>
        </p:nvSpPr>
        <p:spPr>
          <a:xfrm>
            <a:off x="5882609" y="2547975"/>
            <a:ext cx="548640" cy="54864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156929" y="2822295"/>
            <a:ext cx="197612" cy="1261872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115781" y="2781147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54541" y="4084167"/>
            <a:ext cx="179933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Crossover in May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Total visits grew 90%, paid ads drove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(k visits)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7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" y="4604685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" y="3582001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" y="2559317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19" y="5760720"/>
            <a:ext cx="86868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188719" y="1874519"/>
            <a:ext cx="0" cy="388620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682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205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177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1148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091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4062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50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Aug</a:t>
            </a:r>
          </a:p>
        </p:txBody>
      </p:sp>
      <p:sp>
        <p:nvSpPr>
          <p:cNvPr id="19" name="Freeform 18"/>
          <p:cNvSpPr/>
          <p:nvPr/>
        </p:nvSpPr>
        <p:spPr>
          <a:xfrm>
            <a:off x="1188719" y="4942572"/>
            <a:ext cx="8686801" cy="818148"/>
          </a:xfrm>
          <a:custGeom>
            <a:avLst/>
            <a:gdLst/>
            <a:ahLst/>
            <a:cxnLst/>
            <a:rect l="l" t="t" r="r" b="b"/>
            <a:pathLst>
              <a:path w="8686801" h="818148">
                <a:moveTo>
                  <a:pt x="0" y="409074"/>
                </a:moveTo>
                <a:lnTo>
                  <a:pt x="1240972" y="409074"/>
                </a:lnTo>
                <a:lnTo>
                  <a:pt x="2481943" y="306805"/>
                </a:lnTo>
                <a:lnTo>
                  <a:pt x="3722915" y="306805"/>
                </a:lnTo>
                <a:lnTo>
                  <a:pt x="4963886" y="204537"/>
                </a:lnTo>
                <a:lnTo>
                  <a:pt x="6204858" y="204537"/>
                </a:lnTo>
                <a:lnTo>
                  <a:pt x="7445829" y="102269"/>
                </a:lnTo>
                <a:lnTo>
                  <a:pt x="8686801" y="0"/>
                </a:lnTo>
                <a:lnTo>
                  <a:pt x="8686801" y="818148"/>
                </a:lnTo>
                <a:lnTo>
                  <a:pt x="7445829" y="818148"/>
                </a:lnTo>
                <a:lnTo>
                  <a:pt x="6204858" y="818148"/>
                </a:lnTo>
                <a:lnTo>
                  <a:pt x="4963886" y="818148"/>
                </a:lnTo>
                <a:lnTo>
                  <a:pt x="3722915" y="818148"/>
                </a:lnTo>
                <a:lnTo>
                  <a:pt x="2481943" y="818148"/>
                </a:lnTo>
                <a:lnTo>
                  <a:pt x="1240972" y="818148"/>
                </a:lnTo>
                <a:lnTo>
                  <a:pt x="0" y="818148"/>
                </a:lnTo>
                <a:close/>
              </a:path>
            </a:pathLst>
          </a:custGeom>
          <a:solidFill>
            <a:srgbClr val="F8BA00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188719" y="3510814"/>
            <a:ext cx="8686801" cy="1840832"/>
          </a:xfrm>
          <a:custGeom>
            <a:avLst/>
            <a:gdLst/>
            <a:ahLst/>
            <a:cxnLst/>
            <a:rect l="l" t="t" r="r" b="b"/>
            <a:pathLst>
              <a:path w="8686801" h="1840832">
                <a:moveTo>
                  <a:pt x="0" y="1227221"/>
                </a:moveTo>
                <a:lnTo>
                  <a:pt x="1240972" y="1124953"/>
                </a:lnTo>
                <a:lnTo>
                  <a:pt x="2481943" y="920416"/>
                </a:lnTo>
                <a:lnTo>
                  <a:pt x="3722915" y="715879"/>
                </a:lnTo>
                <a:lnTo>
                  <a:pt x="4963886" y="511342"/>
                </a:lnTo>
                <a:lnTo>
                  <a:pt x="6204858" y="409074"/>
                </a:lnTo>
                <a:lnTo>
                  <a:pt x="7445829" y="204537"/>
                </a:lnTo>
                <a:lnTo>
                  <a:pt x="8686801" y="0"/>
                </a:lnTo>
                <a:lnTo>
                  <a:pt x="8686801" y="1431758"/>
                </a:lnTo>
                <a:lnTo>
                  <a:pt x="7445829" y="1534027"/>
                </a:lnTo>
                <a:lnTo>
                  <a:pt x="6204858" y="1636295"/>
                </a:lnTo>
                <a:lnTo>
                  <a:pt x="4963886" y="1636295"/>
                </a:lnTo>
                <a:lnTo>
                  <a:pt x="3722915" y="1738563"/>
                </a:lnTo>
                <a:lnTo>
                  <a:pt x="2481943" y="1738563"/>
                </a:lnTo>
                <a:lnTo>
                  <a:pt x="1240972" y="1840832"/>
                </a:lnTo>
                <a:lnTo>
                  <a:pt x="0" y="1840832"/>
                </a:lnTo>
                <a:close/>
              </a:path>
            </a:pathLst>
          </a:custGeom>
          <a:solidFill>
            <a:srgbClr val="6C89B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188719" y="1874519"/>
            <a:ext cx="8686801" cy="2863516"/>
          </a:xfrm>
          <a:custGeom>
            <a:avLst/>
            <a:gdLst/>
            <a:ahLst/>
            <a:cxnLst/>
            <a:rect l="l" t="t" r="r" b="b"/>
            <a:pathLst>
              <a:path w="8686801" h="2863516">
                <a:moveTo>
                  <a:pt x="0" y="1840832"/>
                </a:moveTo>
                <a:lnTo>
                  <a:pt x="1240972" y="1636295"/>
                </a:lnTo>
                <a:lnTo>
                  <a:pt x="2481943" y="1329490"/>
                </a:lnTo>
                <a:lnTo>
                  <a:pt x="3722915" y="1124953"/>
                </a:lnTo>
                <a:lnTo>
                  <a:pt x="4963886" y="818148"/>
                </a:lnTo>
                <a:lnTo>
                  <a:pt x="6204858" y="613611"/>
                </a:lnTo>
                <a:lnTo>
                  <a:pt x="7445829" y="306806"/>
                </a:lnTo>
                <a:lnTo>
                  <a:pt x="8686801" y="0"/>
                </a:lnTo>
                <a:lnTo>
                  <a:pt x="8686801" y="1636295"/>
                </a:lnTo>
                <a:lnTo>
                  <a:pt x="7445829" y="1840832"/>
                </a:lnTo>
                <a:lnTo>
                  <a:pt x="6204858" y="2045369"/>
                </a:lnTo>
                <a:lnTo>
                  <a:pt x="4963886" y="2147637"/>
                </a:lnTo>
                <a:lnTo>
                  <a:pt x="3722915" y="2352174"/>
                </a:lnTo>
                <a:lnTo>
                  <a:pt x="2481943" y="2556711"/>
                </a:lnTo>
                <a:lnTo>
                  <a:pt x="1240972" y="2761248"/>
                </a:lnTo>
                <a:lnTo>
                  <a:pt x="0" y="2863516"/>
                </a:lnTo>
                <a:close/>
              </a:path>
            </a:pathLst>
          </a:cu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521829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4093343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Paid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559317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Organic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Paid ads share rising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7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" y="485013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" y="407289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" y="329565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" y="2518409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" y="17411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19" y="5760720"/>
            <a:ext cx="86868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188719" y="1874519"/>
            <a:ext cx="0" cy="388620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682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205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177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1148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3091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4062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50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Aug</a:t>
            </a:r>
          </a:p>
        </p:txBody>
      </p:sp>
      <p:sp>
        <p:nvSpPr>
          <p:cNvPr id="21" name="Freeform 20"/>
          <p:cNvSpPr/>
          <p:nvPr/>
        </p:nvSpPr>
        <p:spPr>
          <a:xfrm>
            <a:off x="1188719" y="4942572"/>
            <a:ext cx="8686801" cy="818148"/>
          </a:xfrm>
          <a:custGeom>
            <a:avLst/>
            <a:gdLst/>
            <a:ahLst/>
            <a:cxnLst/>
            <a:rect l="l" t="t" r="r" b="b"/>
            <a:pathLst>
              <a:path w="8686801" h="818148">
                <a:moveTo>
                  <a:pt x="0" y="40907"/>
                </a:moveTo>
                <a:lnTo>
                  <a:pt x="1240972" y="111566"/>
                </a:lnTo>
                <a:lnTo>
                  <a:pt x="2481943" y="40907"/>
                </a:lnTo>
                <a:lnTo>
                  <a:pt x="3722915" y="98481"/>
                </a:lnTo>
                <a:lnTo>
                  <a:pt x="4963886" y="40907"/>
                </a:lnTo>
                <a:lnTo>
                  <a:pt x="6204858" y="89485"/>
                </a:lnTo>
                <a:lnTo>
                  <a:pt x="7445829" y="40907"/>
                </a:lnTo>
                <a:lnTo>
                  <a:pt x="8686801" y="0"/>
                </a:lnTo>
                <a:lnTo>
                  <a:pt x="8686801" y="818148"/>
                </a:lnTo>
                <a:lnTo>
                  <a:pt x="7445829" y="818148"/>
                </a:lnTo>
                <a:lnTo>
                  <a:pt x="6204858" y="818148"/>
                </a:lnTo>
                <a:lnTo>
                  <a:pt x="4963886" y="818148"/>
                </a:lnTo>
                <a:lnTo>
                  <a:pt x="3722915" y="818148"/>
                </a:lnTo>
                <a:lnTo>
                  <a:pt x="2481943" y="818148"/>
                </a:lnTo>
                <a:lnTo>
                  <a:pt x="1240972" y="818148"/>
                </a:lnTo>
                <a:lnTo>
                  <a:pt x="0" y="818148"/>
                </a:lnTo>
                <a:close/>
              </a:path>
            </a:pathLst>
          </a:custGeom>
          <a:solidFill>
            <a:srgbClr val="F8BA00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188719" y="3510814"/>
            <a:ext cx="8686801" cy="1543324"/>
          </a:xfrm>
          <a:custGeom>
            <a:avLst/>
            <a:gdLst/>
            <a:ahLst/>
            <a:cxnLst/>
            <a:rect l="l" t="t" r="r" b="b"/>
            <a:pathLst>
              <a:path w="8686801" h="1543324">
                <a:moveTo>
                  <a:pt x="0" y="306806"/>
                </a:moveTo>
                <a:lnTo>
                  <a:pt x="1240972" y="306806"/>
                </a:lnTo>
                <a:lnTo>
                  <a:pt x="2481943" y="229082"/>
                </a:lnTo>
                <a:lnTo>
                  <a:pt x="3722915" y="90906"/>
                </a:lnTo>
                <a:lnTo>
                  <a:pt x="4963886" y="47726"/>
                </a:lnTo>
                <a:lnTo>
                  <a:pt x="6204858" y="63918"/>
                </a:lnTo>
                <a:lnTo>
                  <a:pt x="7445829" y="29220"/>
                </a:lnTo>
                <a:lnTo>
                  <a:pt x="8686801" y="0"/>
                </a:lnTo>
                <a:lnTo>
                  <a:pt x="8686801" y="1431758"/>
                </a:lnTo>
                <a:lnTo>
                  <a:pt x="7445829" y="1472665"/>
                </a:lnTo>
                <a:lnTo>
                  <a:pt x="6204858" y="1521243"/>
                </a:lnTo>
                <a:lnTo>
                  <a:pt x="4963886" y="1472665"/>
                </a:lnTo>
                <a:lnTo>
                  <a:pt x="3722915" y="1530239"/>
                </a:lnTo>
                <a:lnTo>
                  <a:pt x="2481943" y="1472665"/>
                </a:lnTo>
                <a:lnTo>
                  <a:pt x="1240972" y="1543324"/>
                </a:lnTo>
                <a:lnTo>
                  <a:pt x="0" y="1472665"/>
                </a:lnTo>
                <a:close/>
              </a:path>
            </a:pathLst>
          </a:custGeom>
          <a:solidFill>
            <a:srgbClr val="6C89B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88719" y="1874519"/>
            <a:ext cx="8686801" cy="1943101"/>
          </a:xfrm>
          <a:custGeom>
            <a:avLst/>
            <a:gdLst/>
            <a:ahLst/>
            <a:cxnLst/>
            <a:rect l="l" t="t" r="r" b="b"/>
            <a:pathLst>
              <a:path w="8686801" h="1943101">
                <a:moveTo>
                  <a:pt x="0" y="0"/>
                </a:moveTo>
                <a:lnTo>
                  <a:pt x="1240972" y="0"/>
                </a:lnTo>
                <a:lnTo>
                  <a:pt x="2481943" y="0"/>
                </a:lnTo>
                <a:lnTo>
                  <a:pt x="3722915" y="0"/>
                </a:lnTo>
                <a:lnTo>
                  <a:pt x="4963886" y="0"/>
                </a:lnTo>
                <a:lnTo>
                  <a:pt x="6204858" y="0"/>
                </a:lnTo>
                <a:lnTo>
                  <a:pt x="7445829" y="0"/>
                </a:lnTo>
                <a:lnTo>
                  <a:pt x="8686801" y="0"/>
                </a:lnTo>
                <a:lnTo>
                  <a:pt x="8686801" y="1636295"/>
                </a:lnTo>
                <a:lnTo>
                  <a:pt x="7445829" y="1665515"/>
                </a:lnTo>
                <a:lnTo>
                  <a:pt x="6204858" y="1700213"/>
                </a:lnTo>
                <a:lnTo>
                  <a:pt x="4963886" y="1684021"/>
                </a:lnTo>
                <a:lnTo>
                  <a:pt x="3722915" y="1727201"/>
                </a:lnTo>
                <a:lnTo>
                  <a:pt x="2481943" y="1865377"/>
                </a:lnTo>
                <a:lnTo>
                  <a:pt x="1240972" y="1943101"/>
                </a:lnTo>
                <a:lnTo>
                  <a:pt x="0" y="1943101"/>
                </a:lnTo>
                <a:close/>
              </a:path>
            </a:pathLst>
          </a:cu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5248" y="5218296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4093343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Paid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559317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Organic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Revenue grows while margin expands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 /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19" y="5760720"/>
            <a:ext cx="886968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475487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" y="4868418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" y="4109466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" y="3350513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" y="2591561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" y="1832609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7722"/>
                </a:solidFill>
                <a:latin typeface="Arial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1552" y="4272098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7722"/>
                </a:solidFill>
                <a:latin typeface="Arial"/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1552" y="2916827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7722"/>
                </a:solidFill>
                <a:latin typeface="Arial"/>
              </a:rPr>
              <a:t>10%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19" y="1965960"/>
            <a:ext cx="0" cy="379476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0058400" y="1965960"/>
            <a:ext cx="0" cy="3794760"/>
          </a:xfrm>
          <a:prstGeom prst="line">
            <a:avLst/>
          </a:prstGeom>
          <a:ln w="9525">
            <a:solidFill>
              <a:srgbClr val="E8772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1587855" y="4091025"/>
            <a:ext cx="975664" cy="166969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7855" y="3483863"/>
            <a:ext cx="975664" cy="60716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828538"/>
            <a:ext cx="177393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1791" y="3939235"/>
            <a:ext cx="975664" cy="182148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1791" y="3210641"/>
            <a:ext cx="975664" cy="72859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5828538"/>
            <a:ext cx="177393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5727" y="3696370"/>
            <a:ext cx="975664" cy="2064349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5727" y="2846344"/>
            <a:ext cx="975664" cy="85002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5828538"/>
            <a:ext cx="177393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9663" y="3453505"/>
            <a:ext cx="975664" cy="230721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9663" y="2451689"/>
            <a:ext cx="975664" cy="100181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828538"/>
            <a:ext cx="177393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3599" y="3180283"/>
            <a:ext cx="975664" cy="258043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3599" y="1965959"/>
            <a:ext cx="975664" cy="1214323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5828538"/>
            <a:ext cx="1773936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sp>
        <p:nvSpPr>
          <p:cNvPr id="32" name="Freeform 31"/>
          <p:cNvSpPr/>
          <p:nvPr/>
        </p:nvSpPr>
        <p:spPr>
          <a:xfrm>
            <a:off x="2075688" y="1965959"/>
            <a:ext cx="7095744" cy="1626326"/>
          </a:xfrm>
          <a:custGeom>
            <a:avLst/>
            <a:gdLst/>
            <a:ahLst/>
            <a:cxnLst/>
            <a:rect l="l" t="t" r="r" b="b"/>
            <a:pathLst>
              <a:path w="7095744" h="1626326">
                <a:moveTo>
                  <a:pt x="0" y="1626326"/>
                </a:moveTo>
                <a:lnTo>
                  <a:pt x="1773936" y="1219745"/>
                </a:lnTo>
                <a:lnTo>
                  <a:pt x="3547872" y="813163"/>
                </a:lnTo>
                <a:lnTo>
                  <a:pt x="5321808" y="542109"/>
                </a:lnTo>
                <a:lnTo>
                  <a:pt x="7095744" y="0"/>
                </a:lnTo>
              </a:path>
            </a:pathLst>
          </a:custGeom>
          <a:noFill/>
          <a:ln w="28575">
            <a:solidFill>
              <a:srgbClr val="E877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20824" y="3537421"/>
            <a:ext cx="109728" cy="10972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64208" y="3257767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E87722"/>
                </a:solidFill>
                <a:latin typeface="Arial"/>
              </a:rPr>
              <a:t>8%</a:t>
            </a:r>
          </a:p>
        </p:txBody>
      </p:sp>
      <p:sp>
        <p:nvSpPr>
          <p:cNvPr id="35" name="Oval 34"/>
          <p:cNvSpPr/>
          <p:nvPr/>
        </p:nvSpPr>
        <p:spPr>
          <a:xfrm>
            <a:off x="3794760" y="3130840"/>
            <a:ext cx="109728" cy="10972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8144" y="2851186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E87722"/>
                </a:solidFill>
                <a:latin typeface="Arial"/>
              </a:rPr>
              <a:t>9.5%</a:t>
            </a:r>
          </a:p>
        </p:txBody>
      </p:sp>
      <p:sp>
        <p:nvSpPr>
          <p:cNvPr id="37" name="Oval 36"/>
          <p:cNvSpPr/>
          <p:nvPr/>
        </p:nvSpPr>
        <p:spPr>
          <a:xfrm>
            <a:off x="5568696" y="2724258"/>
            <a:ext cx="109728" cy="10972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2444604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E87722"/>
                </a:solidFill>
                <a:latin typeface="Arial"/>
              </a:rPr>
              <a:t>11%</a:t>
            </a:r>
          </a:p>
        </p:txBody>
      </p:sp>
      <p:sp>
        <p:nvSpPr>
          <p:cNvPr id="39" name="Oval 38"/>
          <p:cNvSpPr/>
          <p:nvPr/>
        </p:nvSpPr>
        <p:spPr>
          <a:xfrm>
            <a:off x="7342631" y="2453204"/>
            <a:ext cx="109728" cy="10972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6016" y="2173550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E87722"/>
                </a:solidFill>
                <a:latin typeface="Arial"/>
              </a:rPr>
              <a:t>12%</a:t>
            </a:r>
          </a:p>
        </p:txBody>
      </p:sp>
      <p:sp>
        <p:nvSpPr>
          <p:cNvPr id="41" name="Oval 40"/>
          <p:cNvSpPr/>
          <p:nvPr/>
        </p:nvSpPr>
        <p:spPr>
          <a:xfrm>
            <a:off x="9116568" y="1911095"/>
            <a:ext cx="109728" cy="10972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2" y="1631441"/>
            <a:ext cx="8229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E87722"/>
                </a:solidFill>
                <a:latin typeface="Arial"/>
              </a:rPr>
              <a:t>14%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1600200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1600200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21408" y="1540002"/>
            <a:ext cx="16459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Products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1347978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E87722"/>
                </a:solidFill>
                <a:latin typeface="Arial"/>
              </a:rPr>
              <a:t>— EBIT margin (right axis)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822696" y="1856231"/>
            <a:ext cx="3153664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8935212" y="1815083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376168" y="1655063"/>
            <a:ext cx="244652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Margin +6 pp in 4 years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Churn back inside target range since May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monthly churn)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7" y="56273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" y="4604685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" y="3582001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" y="2559317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19" y="5760720"/>
            <a:ext cx="86868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188719" y="1874519"/>
            <a:ext cx="0" cy="388620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682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205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177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1148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091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4062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5034" y="5828538"/>
            <a:ext cx="124097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Aug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19" y="3204009"/>
            <a:ext cx="8686800" cy="1022684"/>
          </a:xfrm>
          <a:prstGeom prst="rect">
            <a:avLst/>
          </a:prstGeom>
          <a:solidFill>
            <a:srgbClr val="E3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975233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  <a:latin typeface="Arial"/>
              </a:rPr>
              <a:t>Target range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19" y="3715351"/>
            <a:ext cx="8686801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</p:cxnSp>
      <p:sp>
        <p:nvSpPr>
          <p:cNvPr id="22" name="TextBox 21"/>
          <p:cNvSpPr txBox="1"/>
          <p:nvPr/>
        </p:nvSpPr>
        <p:spPr>
          <a:xfrm>
            <a:off x="1280160" y="3445603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Target 2.0%</a:t>
            </a:r>
          </a:p>
        </p:txBody>
      </p:sp>
      <p:sp>
        <p:nvSpPr>
          <p:cNvPr id="23" name="Freeform 22"/>
          <p:cNvSpPr/>
          <p:nvPr/>
        </p:nvSpPr>
        <p:spPr>
          <a:xfrm>
            <a:off x="1188719" y="1874519"/>
            <a:ext cx="8686801" cy="1840832"/>
          </a:xfrm>
          <a:custGeom>
            <a:avLst/>
            <a:gdLst/>
            <a:ahLst/>
            <a:cxnLst/>
            <a:rect l="l" t="t" r="r" b="b"/>
            <a:pathLst>
              <a:path w="8686801" h="1840832">
                <a:moveTo>
                  <a:pt x="0" y="0"/>
                </a:moveTo>
                <a:lnTo>
                  <a:pt x="1240972" y="204537"/>
                </a:lnTo>
                <a:lnTo>
                  <a:pt x="2481943" y="715879"/>
                </a:lnTo>
                <a:lnTo>
                  <a:pt x="3722915" y="920416"/>
                </a:lnTo>
                <a:lnTo>
                  <a:pt x="4963886" y="1431758"/>
                </a:lnTo>
                <a:lnTo>
                  <a:pt x="6204858" y="1636295"/>
                </a:lnTo>
                <a:lnTo>
                  <a:pt x="7445829" y="1534027"/>
                </a:lnTo>
                <a:lnTo>
                  <a:pt x="8686801" y="1840832"/>
                </a:lnTo>
              </a:path>
            </a:pathLst>
          </a:custGeom>
          <a:noFill/>
          <a:ln w="28575">
            <a:solidFill>
              <a:srgbClr val="00507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2999" y="1828799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83971" y="2033336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4942" y="2544678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65914" y="2749215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06885" y="3260557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47857" y="3465094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88828" y="3362826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3669631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5248" y="3582001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507D"/>
                </a:solidFill>
                <a:latin typeface="Arial"/>
              </a:rPr>
              <a:t>Churn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416773" y="3311133"/>
            <a:ext cx="740156" cy="1536192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115781" y="3269985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07965" y="4847325"/>
            <a:ext cx="290880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Retention programme launched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Online and App gained share, Stores lost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share)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5829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59" y="155829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2025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1965960"/>
            <a:ext cx="0" cy="40690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8595359" y="1965960"/>
            <a:ext cx="0" cy="40690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66160" y="2057400"/>
            <a:ext cx="5029199" cy="1854777"/>
          </a:xfrm>
          <a:prstGeom prst="line">
            <a:avLst/>
          </a:prstGeom>
          <a:ln w="15875">
            <a:solidFill>
              <a:srgbClr val="A20603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3511296" y="2002536"/>
            <a:ext cx="109728" cy="109728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40495" y="3857313"/>
            <a:ext cx="109728" cy="109728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566160" y="5237018"/>
            <a:ext cx="5029199" cy="353291"/>
          </a:xfrm>
          <a:prstGeom prst="line">
            <a:avLst/>
          </a:prstGeom>
          <a:ln w="15875">
            <a:solidFill>
              <a:srgbClr val="A20603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3511296" y="5182154"/>
            <a:ext cx="109728" cy="109728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0495" y="5535445"/>
            <a:ext cx="109728" cy="109728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3566160" y="3470563"/>
            <a:ext cx="5029199" cy="1059873"/>
          </a:xfrm>
          <a:prstGeom prst="line">
            <a:avLst/>
          </a:prstGeom>
          <a:ln w="28575">
            <a:solidFill>
              <a:srgbClr val="00507D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511296" y="4475572"/>
            <a:ext cx="109728" cy="109728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0495" y="3415699"/>
            <a:ext cx="109728" cy="109728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566160" y="4795404"/>
            <a:ext cx="5029199" cy="1148196"/>
          </a:xfrm>
          <a:prstGeom prst="line">
            <a:avLst/>
          </a:prstGeom>
          <a:ln w="28575">
            <a:solidFill>
              <a:srgbClr val="00507D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3511296" y="5888736"/>
            <a:ext cx="109728" cy="109728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0495" y="4740540"/>
            <a:ext cx="109728" cy="109728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1924049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Stores  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7" y="3778827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31  Stores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97086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Online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7" y="3337213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36 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1025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App 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4662054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21 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103668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Phone 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7" y="5456959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12  Phone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9447783" y="4493652"/>
            <a:ext cx="0" cy="16764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9406635" y="462014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69324" y="4091316"/>
            <a:ext cx="161442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App share 2.6x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Every region grew, Asia fastest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401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Asia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543299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907694" y="3063239"/>
            <a:ext cx="391363" cy="48005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" y="2821304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9966" y="2919222"/>
            <a:ext cx="391363" cy="624077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2238" y="2751200"/>
            <a:ext cx="391363" cy="79209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4510" y="2559177"/>
            <a:ext cx="391363" cy="984122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6782" y="2295144"/>
            <a:ext cx="391363" cy="1248155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9167" y="2053208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163258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160401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Europe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04360" y="3543299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4534814" y="2583179"/>
            <a:ext cx="391363" cy="96011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200" y="2341244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7086" y="2535174"/>
            <a:ext cx="391363" cy="1008125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39358" y="2487168"/>
            <a:ext cx="391363" cy="1056131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1630" y="2463164"/>
            <a:ext cx="391363" cy="108013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3902" y="2415158"/>
            <a:ext cx="391363" cy="1128141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173223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2680" y="163258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1480" y="160401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N. America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31480" y="3543299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8161934" y="2343150"/>
            <a:ext cx="391363" cy="120014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4320" y="2101215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14206" y="2271140"/>
            <a:ext cx="391363" cy="127215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66478" y="2223134"/>
            <a:ext cx="391363" cy="132016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18750" y="2151126"/>
            <a:ext cx="391363" cy="139217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71022" y="2103120"/>
            <a:ext cx="391363" cy="144017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03408" y="1861184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163258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86715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LatAm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806440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37" name="Rectangle 36"/>
          <p:cNvSpPr/>
          <p:nvPr/>
        </p:nvSpPr>
        <p:spPr>
          <a:xfrm>
            <a:off x="907694" y="5566409"/>
            <a:ext cx="391363" cy="24003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" y="5324474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9966" y="5542406"/>
            <a:ext cx="391363" cy="264033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2238" y="5494401"/>
            <a:ext cx="391363" cy="31203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64510" y="5470398"/>
            <a:ext cx="391363" cy="336042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16782" y="5422392"/>
            <a:ext cx="391363" cy="38404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9167" y="5180457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59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3447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5560" y="389572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+12%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4360" y="386715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Africa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04360" y="5806440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49" name="Rectangle 48"/>
          <p:cNvSpPr/>
          <p:nvPr/>
        </p:nvSpPr>
        <p:spPr>
          <a:xfrm>
            <a:off x="4534814" y="5686425"/>
            <a:ext cx="391363" cy="120015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7200" y="5444490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7086" y="5662422"/>
            <a:ext cx="391363" cy="14401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39358" y="5662422"/>
            <a:ext cx="391363" cy="14401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1630" y="5638419"/>
            <a:ext cx="391363" cy="168021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43902" y="5590413"/>
            <a:ext cx="391363" cy="216027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5348478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1480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0568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02680" y="389572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+16%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1480" y="3867150"/>
            <a:ext cx="3261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Oceania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31480" y="5806440"/>
            <a:ext cx="326136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61" name="Rectangle 60"/>
          <p:cNvSpPr/>
          <p:nvPr/>
        </p:nvSpPr>
        <p:spPr>
          <a:xfrm>
            <a:off x="8161934" y="5614416"/>
            <a:ext cx="391363" cy="19202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94320" y="5372481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14206" y="5614416"/>
            <a:ext cx="391363" cy="192024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66478" y="5590413"/>
            <a:ext cx="391363" cy="216027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18750" y="5590413"/>
            <a:ext cx="391363" cy="216027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771022" y="5566409"/>
            <a:ext cx="391363" cy="24003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03408" y="5324474"/>
            <a:ext cx="926592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48600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57688" y="5848350"/>
            <a:ext cx="1018032" cy="1905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rial"/>
              </a:rPr>
              <a:t>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9800" y="3895725"/>
            <a:ext cx="146304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00507D"/>
                </a:solidFill>
                <a:latin typeface="Arial"/>
              </a:rPr>
              <a:t>CAGR +6%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2706623" y="2269236"/>
            <a:ext cx="881888" cy="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3547364" y="2228088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7823" y="2029968"/>
            <a:ext cx="182880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Asia: largest</a:t>
            </a:r>
          </a:p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growth engine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散点/气泡图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2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Higher price does not mean higher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(Price $ vs CSAT 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5669280"/>
            <a:ext cx="96012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371600" y="1874519"/>
            <a:ext cx="0" cy="379476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005840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005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0171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7337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3593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8724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3855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8986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74117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9313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Price ($)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51257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CSAT</a:t>
            </a:r>
          </a:p>
        </p:txBody>
      </p:sp>
      <p:sp>
        <p:nvSpPr>
          <p:cNvPr id="18" name="Oval 17"/>
          <p:cNvSpPr/>
          <p:nvPr/>
        </p:nvSpPr>
        <p:spPr>
          <a:xfrm>
            <a:off x="4379046" y="2750058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070" y="2689860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149196" y="2180844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1220" y="2120645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5919346" y="2987230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1370" y="2927032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6946212" y="1801367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8236" y="1741170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7716362" y="2465451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386" y="2405253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8999945" y="2275712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1969" y="2215514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10026811" y="2844927"/>
            <a:ext cx="146304" cy="146304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8835" y="2784729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76081" y="1874519"/>
            <a:ext cx="0" cy="3794761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33" name="Connector 32"/>
          <p:cNvCxnSpPr/>
          <p:nvPr/>
        </p:nvCxnSpPr>
        <p:spPr>
          <a:xfrm>
            <a:off x="1371600" y="2586037"/>
            <a:ext cx="96012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34" name="Oval 33"/>
          <p:cNvSpPr/>
          <p:nvPr/>
        </p:nvSpPr>
        <p:spPr>
          <a:xfrm>
            <a:off x="6913700" y="1668779"/>
            <a:ext cx="548640" cy="41148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5895160" y="2008631"/>
            <a:ext cx="1197356" cy="1219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051368" y="1967483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26000" y="2130551"/>
            <a:ext cx="216916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D: premium and loved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Business segment: large and profitable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(Years between purchases vs margin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5669280"/>
            <a:ext cx="96012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371600" y="1874519"/>
            <a:ext cx="0" cy="379476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005840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7185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8530" y="57188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5930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77657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19384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61111"/>
            <a:ext cx="6400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99313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Purchase frequency (years)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51257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Margin (%)</a:t>
            </a:r>
          </a:p>
        </p:txBody>
      </p:sp>
      <p:sp>
        <p:nvSpPr>
          <p:cNvPr id="16" name="Oval 15"/>
          <p:cNvSpPr/>
          <p:nvPr/>
        </p:nvSpPr>
        <p:spPr>
          <a:xfrm>
            <a:off x="4286873" y="2793353"/>
            <a:ext cx="1152144" cy="1152144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4737" y="3236075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Business</a:t>
            </a:r>
          </a:p>
        </p:txBody>
      </p:sp>
      <p:sp>
        <p:nvSpPr>
          <p:cNvPr id="18" name="Oval 17"/>
          <p:cNvSpPr/>
          <p:nvPr/>
        </p:nvSpPr>
        <p:spPr>
          <a:xfrm>
            <a:off x="7996644" y="4353360"/>
            <a:ext cx="715293" cy="715293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7657" y="4577657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Budget</a:t>
            </a:r>
          </a:p>
        </p:txBody>
      </p:sp>
      <p:sp>
        <p:nvSpPr>
          <p:cNvPr id="20" name="Oval 19"/>
          <p:cNvSpPr/>
          <p:nvPr/>
        </p:nvSpPr>
        <p:spPr>
          <a:xfrm>
            <a:off x="2819208" y="1921433"/>
            <a:ext cx="596129" cy="596129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1057" y="2086148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Power users</a:t>
            </a:r>
          </a:p>
        </p:txBody>
      </p:sp>
      <p:sp>
        <p:nvSpPr>
          <p:cNvPr id="22" name="Oval 21"/>
          <p:cNvSpPr/>
          <p:nvPr/>
        </p:nvSpPr>
        <p:spPr>
          <a:xfrm>
            <a:off x="9637251" y="3481676"/>
            <a:ext cx="925424" cy="925424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8395" y="3811039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Mid-range</a:t>
            </a:r>
          </a:p>
        </p:txBody>
      </p:sp>
      <p:sp>
        <p:nvSpPr>
          <p:cNvPr id="24" name="Oval 23"/>
          <p:cNvSpPr/>
          <p:nvPr/>
        </p:nvSpPr>
        <p:spPr>
          <a:xfrm>
            <a:off x="6361249" y="2547093"/>
            <a:ext cx="494737" cy="494737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1706" y="2661111"/>
            <a:ext cx="1463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Early adopters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001" y="3503537"/>
            <a:ext cx="163576" cy="5791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285853" y="3462389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0577" y="4082657"/>
            <a:ext cx="207670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Largest profit pool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饼/环图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2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Heating dominates household energy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Pie 4"/>
          <p:cNvSpPr/>
          <p:nvPr/>
        </p:nvSpPr>
        <p:spPr>
          <a:xfrm>
            <a:off x="3314700" y="2011679"/>
            <a:ext cx="3703320" cy="3703320"/>
          </a:xfrm>
          <a:prstGeom prst="pie">
            <a:avLst>
              <a:gd name="adj1" fmla="val 16200000"/>
              <a:gd name="adj2" fmla="val 6911999"/>
            </a:avLst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9404" y="400466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6520" y="4183784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Heating</a:t>
            </a:r>
          </a:p>
        </p:txBody>
      </p:sp>
      <p:sp>
        <p:nvSpPr>
          <p:cNvPr id="8" name="Pie 7"/>
          <p:cNvSpPr/>
          <p:nvPr/>
        </p:nvSpPr>
        <p:spPr>
          <a:xfrm>
            <a:off x="3314700" y="2011679"/>
            <a:ext cx="3703320" cy="3703320"/>
          </a:xfrm>
          <a:prstGeom prst="pie">
            <a:avLst>
              <a:gd name="adj1" fmla="val 6911999"/>
              <a:gd name="adj2" fmla="val 12095999"/>
            </a:avLst>
          </a:prstGeom>
          <a:solidFill>
            <a:srgbClr val="6C89B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9891" y="4193506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383" y="4495784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Cooling</a:t>
            </a:r>
          </a:p>
        </p:txBody>
      </p:sp>
      <p:sp>
        <p:nvSpPr>
          <p:cNvPr id="11" name="Pie 10"/>
          <p:cNvSpPr/>
          <p:nvPr/>
        </p:nvSpPr>
        <p:spPr>
          <a:xfrm>
            <a:off x="3314700" y="2011679"/>
            <a:ext cx="3703320" cy="3703320"/>
          </a:xfrm>
          <a:prstGeom prst="pie">
            <a:avLst>
              <a:gd name="adj1" fmla="val 12095999"/>
              <a:gd name="adj2" fmla="val 16200000"/>
            </a:avLst>
          </a:prstGeom>
          <a:solidFill>
            <a:srgbClr val="F8BA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2864" y="2688589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8280" y="2009447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0236" y="4272122"/>
            <a:ext cx="1827276" cy="5791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549088" y="423097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7512" y="4851242"/>
            <a:ext cx="253898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Insulation could cut 30%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Three channels make up the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Block Arc 4"/>
          <p:cNvSpPr/>
          <p:nvPr/>
        </p:nvSpPr>
        <p:spPr>
          <a:xfrm>
            <a:off x="3314700" y="2011679"/>
            <a:ext cx="3703320" cy="3703320"/>
          </a:xfrm>
          <a:prstGeom prst="blockArc">
            <a:avLst>
              <a:gd name="adj1" fmla="val 16200000"/>
              <a:gd name="adj2" fmla="val 6911999"/>
              <a:gd name="adj3" fmla="val 18000"/>
            </a:avLst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82394" y="406121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6520" y="4183784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Online</a:t>
            </a:r>
          </a:p>
        </p:txBody>
      </p:sp>
      <p:sp>
        <p:nvSpPr>
          <p:cNvPr id="8" name="Block Arc 7"/>
          <p:cNvSpPr/>
          <p:nvPr/>
        </p:nvSpPr>
        <p:spPr>
          <a:xfrm>
            <a:off x="3314700" y="2011679"/>
            <a:ext cx="3703320" cy="3703320"/>
          </a:xfrm>
          <a:prstGeom prst="blockArc">
            <a:avLst>
              <a:gd name="adj1" fmla="val 6911999"/>
              <a:gd name="adj2" fmla="val 12095999"/>
              <a:gd name="adj3" fmla="val 18000"/>
            </a:avLst>
          </a:prstGeom>
          <a:solidFill>
            <a:srgbClr val="6C89B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8863" y="4288936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383" y="4495784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Retail</a:t>
            </a:r>
          </a:p>
        </p:txBody>
      </p:sp>
      <p:sp>
        <p:nvSpPr>
          <p:cNvPr id="11" name="Block Arc 10"/>
          <p:cNvSpPr/>
          <p:nvPr/>
        </p:nvSpPr>
        <p:spPr>
          <a:xfrm>
            <a:off x="3314700" y="2011679"/>
            <a:ext cx="3703320" cy="3703320"/>
          </a:xfrm>
          <a:prstGeom prst="blockArc">
            <a:avLst>
              <a:gd name="adj1" fmla="val 12095999"/>
              <a:gd name="adj2" fmla="val 16200000"/>
              <a:gd name="adj3" fmla="val 18000"/>
            </a:avLst>
          </a:prstGeom>
          <a:solidFill>
            <a:srgbClr val="F8BA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7154" y="247418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8280" y="2009447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691889"/>
            <a:ext cx="18288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"/>
              </a:rPr>
              <a:t>$125M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甘特/时间线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4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Project plan: deal closes end of July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(2026, ISO calendar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79" y="1604010"/>
            <a:ext cx="2100037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May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1600200"/>
            <a:ext cx="0" cy="2852928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10128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5137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0146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5156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3317" y="1604010"/>
            <a:ext cx="22500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3317" y="1600200"/>
            <a:ext cx="0" cy="2852928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10165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5175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184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194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0203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3358" y="1604010"/>
            <a:ext cx="232504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33358" y="1600200"/>
            <a:ext cx="0" cy="2852928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035212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0222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5231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241" y="1888617"/>
            <a:ext cx="3657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rial"/>
              </a:rPr>
              <a:t>31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1600200"/>
            <a:ext cx="0" cy="2852928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0080" y="186004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860042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Owner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148840"/>
            <a:ext cx="107899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7583355" y="2148840"/>
            <a:ext cx="825014" cy="2304288"/>
          </a:xfrm>
          <a:prstGeom prst="rect">
            <a:avLst/>
          </a:prstGeom>
          <a:solidFill>
            <a:srgbClr val="E3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1462" y="4521708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Exclusivity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207514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Send teaser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225649"/>
            <a:ext cx="825014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2207514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59156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Sign NDA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2532888"/>
            <a:ext cx="94183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5" name="Diamond 34"/>
          <p:cNvSpPr/>
          <p:nvPr/>
        </p:nvSpPr>
        <p:spPr>
          <a:xfrm>
            <a:off x="4477688" y="2619298"/>
            <a:ext cx="211226" cy="211226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4634" y="2610612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NDA signed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591562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Legal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975610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Management calls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2916936"/>
            <a:ext cx="94183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4433298" y="2993745"/>
            <a:ext cx="1875033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975610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359658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Data room access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3300984"/>
            <a:ext cx="94183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483317" y="3377793"/>
            <a:ext cx="2925052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3359658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743706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Final due diligence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3685032"/>
            <a:ext cx="94183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8" name="Rectangle 47"/>
          <p:cNvSpPr/>
          <p:nvPr/>
        </p:nvSpPr>
        <p:spPr>
          <a:xfrm>
            <a:off x="7583355" y="3761841"/>
            <a:ext cx="1875033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0" y="3743706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Buyer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127754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Signing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0080" y="4069080"/>
            <a:ext cx="94183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52" name="Diamond 51"/>
          <p:cNvSpPr/>
          <p:nvPr/>
        </p:nvSpPr>
        <p:spPr>
          <a:xfrm>
            <a:off x="9727782" y="4155490"/>
            <a:ext cx="211226" cy="211226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53262" y="4146804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SPA signed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127754"/>
            <a:ext cx="13716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All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383280" y="4562856"/>
            <a:ext cx="0" cy="109728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6308332" y="4562856"/>
            <a:ext cx="0" cy="109728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3383280" y="4672584"/>
            <a:ext cx="292505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4845806" y="4672584"/>
            <a:ext cx="0" cy="9144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3474206" y="4776978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Buyer outreach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08327" y="1874519"/>
            <a:ext cx="0" cy="2578609"/>
          </a:xfrm>
          <a:prstGeom prst="line">
            <a:avLst/>
          </a:prstGeom>
          <a:ln w="12700">
            <a:solidFill>
              <a:srgbClr val="A20603"/>
            </a:solidFill>
            <a:prstDash val="dash"/>
          </a:ln>
        </p:spPr>
      </p:cxnSp>
      <p:sp>
        <p:nvSpPr>
          <p:cNvPr id="61" name="TextBox 60"/>
          <p:cNvSpPr txBox="1"/>
          <p:nvPr/>
        </p:nvSpPr>
        <p:spPr>
          <a:xfrm>
            <a:off x="5459687" y="4502658"/>
            <a:ext cx="10972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A20603"/>
                </a:solidFill>
                <a:latin typeface="Arial"/>
              </a:rPr>
              <a:t>Today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7918286" y="4379976"/>
            <a:ext cx="864616" cy="82296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8741754" y="4338828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471758" y="5202936"/>
            <a:ext cx="244652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Critical path: DD → SPA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Transformation roadmap 2026–2027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(2026–2027)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Chevron 4"/>
          <p:cNvSpPr/>
          <p:nvPr/>
        </p:nvSpPr>
        <p:spPr>
          <a:xfrm>
            <a:off x="914400" y="3726179"/>
            <a:ext cx="1686685" cy="274320"/>
          </a:xfrm>
          <a:prstGeom prst="chevron">
            <a:avLst/>
          </a:prstGeom>
          <a:solidFill>
            <a:srgbClr val="F8BA00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Diagnose</a:t>
            </a:r>
          </a:p>
        </p:txBody>
      </p:sp>
      <p:sp>
        <p:nvSpPr>
          <p:cNvPr id="6" name="Chevron 5"/>
          <p:cNvSpPr/>
          <p:nvPr/>
        </p:nvSpPr>
        <p:spPr>
          <a:xfrm>
            <a:off x="2615259" y="3726179"/>
            <a:ext cx="2593810" cy="274320"/>
          </a:xfrm>
          <a:prstGeom prst="chevron">
            <a:avLst/>
          </a:prstGeom>
          <a:solidFill>
            <a:srgbClr val="6C89B4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5223243" y="3726179"/>
            <a:ext cx="6023876" cy="274320"/>
          </a:xfrm>
          <a:prstGeom prst="chevron">
            <a:avLst/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Roll-out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949089" y="2674620"/>
            <a:ext cx="0" cy="1005839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1857649" y="2583179"/>
            <a:ext cx="182880" cy="18288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4689" y="1988819"/>
            <a:ext cx="18288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15 Mar 2026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Baseline done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9862" y="4046220"/>
            <a:ext cx="0" cy="1005839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3388422" y="4960620"/>
            <a:ext cx="182880" cy="18288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5462" y="5189220"/>
            <a:ext cx="18288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01 Jul 2026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Target model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421677" y="2674620"/>
            <a:ext cx="0" cy="1005839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5" name="Diamond 14"/>
          <p:cNvSpPr/>
          <p:nvPr/>
        </p:nvSpPr>
        <p:spPr>
          <a:xfrm>
            <a:off x="5330237" y="2583179"/>
            <a:ext cx="182880" cy="18288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277" y="1988819"/>
            <a:ext cx="18288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15 Nov 2026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Pilot live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39135" y="4046220"/>
            <a:ext cx="0" cy="1005839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8547695" y="4960620"/>
            <a:ext cx="182880" cy="18288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4735" y="5189220"/>
            <a:ext cx="18288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30 Jun 2027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50% sites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821905" y="2674620"/>
            <a:ext cx="0" cy="1005839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10730465" y="2583179"/>
            <a:ext cx="182880" cy="18288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7505" y="1988819"/>
            <a:ext cx="18288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01 Dec 2027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Full scale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Programme status: design 90% complete, build 35%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(2026, % complete)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04010"/>
            <a:ext cx="1049572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Jan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432852" y="1604010"/>
            <a:ext cx="1088445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2852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521297" y="1604010"/>
            <a:ext cx="12050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21297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726361" y="1604010"/>
            <a:ext cx="116619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6361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892553" y="1604010"/>
            <a:ext cx="120506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92553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097617" y="1604010"/>
            <a:ext cx="116619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7617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0263808" y="1604010"/>
            <a:ext cx="1166191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63808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1430000" y="1600200"/>
            <a:ext cx="0" cy="246888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186004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Activity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148840"/>
            <a:ext cx="107899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2207514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225649"/>
            <a:ext cx="1516048" cy="23042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2225649"/>
            <a:ext cx="1516048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5048" y="2226564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59156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Design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532888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4471725" y="2609697"/>
            <a:ext cx="2332382" cy="23042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71725" y="2609697"/>
            <a:ext cx="2099144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9827" y="2610612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975610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Build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2916936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104393" y="2993745"/>
            <a:ext cx="3420827" cy="23042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04393" y="2993745"/>
            <a:ext cx="1197289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0940" y="2994660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359658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3300984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8" name="Rectangle 37"/>
          <p:cNvSpPr/>
          <p:nvPr/>
        </p:nvSpPr>
        <p:spPr>
          <a:xfrm>
            <a:off x="8553394" y="3377793"/>
            <a:ext cx="1788160" cy="23042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53394" y="3377793"/>
            <a:ext cx="89408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87274" y="3378708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43706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Go-live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3685032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3" name="Diamond 42"/>
          <p:cNvSpPr/>
          <p:nvPr/>
        </p:nvSpPr>
        <p:spPr>
          <a:xfrm>
            <a:off x="10702418" y="3771442"/>
            <a:ext cx="211226" cy="211226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7898" y="3762756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Go-live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64949" y="1874519"/>
            <a:ext cx="0" cy="2194561"/>
          </a:xfrm>
          <a:prstGeom prst="line">
            <a:avLst/>
          </a:prstGeom>
          <a:ln w="12700">
            <a:solidFill>
              <a:srgbClr val="A20603"/>
            </a:solidFill>
            <a:prstDash val="dash"/>
          </a:ln>
        </p:spPr>
      </p:cxnSp>
      <p:sp>
        <p:nvSpPr>
          <p:cNvPr id="46" name="TextBox 45"/>
          <p:cNvSpPr txBox="1"/>
          <p:nvPr/>
        </p:nvSpPr>
        <p:spPr>
          <a:xfrm>
            <a:off x="6916309" y="4118610"/>
            <a:ext cx="10972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A20603"/>
                </a:solidFill>
                <a:latin typeface="Arial"/>
              </a:rPr>
              <a:t>Today</a:t>
            </a:r>
          </a:p>
        </p:txBody>
      </p:sp>
      <p:sp>
        <p:nvSpPr>
          <p:cNvPr id="47" name="Oval 46"/>
          <p:cNvSpPr/>
          <p:nvPr/>
        </p:nvSpPr>
        <p:spPr>
          <a:xfrm>
            <a:off x="9378916" y="2926080"/>
            <a:ext cx="640080" cy="36576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9872692" y="3227832"/>
            <a:ext cx="0" cy="41148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9831544" y="318668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52280" y="3639312"/>
            <a:ext cx="216916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Build 3 weeks behind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Three workstreams converge on the October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04010"/>
            <a:ext cx="158816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Jun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971448" y="1604010"/>
            <a:ext cx="1641107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Jul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71448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612555" y="1604010"/>
            <a:ext cx="1641107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Aug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12555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253663" y="1604010"/>
            <a:ext cx="158816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Sep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53663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841831" y="1604010"/>
            <a:ext cx="1588168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Oct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41831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1430000" y="1600200"/>
            <a:ext cx="0" cy="4005072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40080" y="186004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Activity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2148840"/>
            <a:ext cx="1078992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640080" y="2148840"/>
            <a:ext cx="10789920" cy="384048"/>
          </a:xfrm>
          <a:prstGeom prst="rect">
            <a:avLst/>
          </a:prstGeom>
          <a:solidFill>
            <a:srgbClr val="E3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07514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59156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Pricing redesign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532888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3383280" y="2609697"/>
            <a:ext cx="3176336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75610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Sales training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2916936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718433" y="2993745"/>
            <a:ext cx="2805764" cy="23042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40080" y="3300984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640080" y="3300984"/>
            <a:ext cx="10789920" cy="384048"/>
          </a:xfrm>
          <a:prstGeom prst="rect">
            <a:avLst/>
          </a:prstGeom>
          <a:solidFill>
            <a:srgbClr val="E3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59658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743706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Supplier onboarding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85032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4124425" y="3761841"/>
            <a:ext cx="3917482" cy="23042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127754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Warehouse set-up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4069080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977288" y="4145889"/>
            <a:ext cx="3811604" cy="23042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40080" y="4453128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640080" y="4453128"/>
            <a:ext cx="10789920" cy="384048"/>
          </a:xfrm>
          <a:prstGeom prst="rect">
            <a:avLst/>
          </a:prstGeom>
          <a:solidFill>
            <a:srgbClr val="E3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51180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895850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ERP changes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837176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3753852" y="4913985"/>
            <a:ext cx="5029199" cy="23042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79898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Launch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5221224"/>
            <a:ext cx="10789920" cy="0"/>
          </a:xfrm>
          <a:prstGeom prst="line">
            <a:avLst/>
          </a:prstGeom>
          <a:ln w="3175">
            <a:solidFill>
              <a:srgbClr val="D9D9D9"/>
            </a:solidFill>
          </a:ln>
        </p:spPr>
      </p:cxnSp>
      <p:sp>
        <p:nvSpPr>
          <p:cNvPr id="43" name="Diamond 42"/>
          <p:cNvSpPr/>
          <p:nvPr/>
        </p:nvSpPr>
        <p:spPr>
          <a:xfrm>
            <a:off x="9947974" y="5307634"/>
            <a:ext cx="211226" cy="211226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3454" y="5298948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Launch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1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Vendor B is the strongest overall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(Harvey ball 0–4; cost in 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00200"/>
            <a:ext cx="1988819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Vendor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4979" y="1600200"/>
            <a:ext cx="1988819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Vendor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00200"/>
            <a:ext cx="1988819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Vendor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2619" y="1600200"/>
            <a:ext cx="1988819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Vendor 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057400"/>
            <a:ext cx="108813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640080" y="2057400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175510"/>
            <a:ext cx="2834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Functional coverage</a:t>
            </a:r>
          </a:p>
        </p:txBody>
      </p:sp>
      <p:sp>
        <p:nvSpPr>
          <p:cNvPr id="12" name="Oval 11"/>
          <p:cNvSpPr/>
          <p:nvPr/>
        </p:nvSpPr>
        <p:spPr>
          <a:xfrm>
            <a:off x="4399635" y="214792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4399635" y="2147925"/>
            <a:ext cx="321868" cy="321868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8455" y="214792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8455" y="2147925"/>
            <a:ext cx="321868" cy="3218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7275" y="214792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8377275" y="2147925"/>
            <a:ext cx="321868" cy="3218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6095" y="214792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10366095" y="2147925"/>
            <a:ext cx="321868" cy="321868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678430"/>
            <a:ext cx="2834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Integration effort</a:t>
            </a:r>
          </a:p>
        </p:txBody>
      </p:sp>
      <p:sp>
        <p:nvSpPr>
          <p:cNvPr id="21" name="Oval 20"/>
          <p:cNvSpPr/>
          <p:nvPr/>
        </p:nvSpPr>
        <p:spPr>
          <a:xfrm>
            <a:off x="4399635" y="265084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4399635" y="2650845"/>
            <a:ext cx="321868" cy="3218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88455" y="265084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6388455" y="2650845"/>
            <a:ext cx="321868" cy="321868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77275" y="265084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8377275" y="2650845"/>
            <a:ext cx="321868" cy="321868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66095" y="265084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10366095" y="2650845"/>
            <a:ext cx="321868" cy="321868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063240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181350"/>
            <a:ext cx="2834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Total cost (5y, $M)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181350"/>
            <a:ext cx="1988819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979" y="3181350"/>
            <a:ext cx="1988819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5.1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181350"/>
            <a:ext cx="1988819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3.6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2619" y="3181350"/>
            <a:ext cx="1988819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19" y="3684270"/>
            <a:ext cx="2834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Local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1970" y="3684270"/>
            <a:ext cx="457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0790" y="3684270"/>
            <a:ext cx="457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9610" y="3684270"/>
            <a:ext cx="457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20603"/>
                </a:solidFill>
                <a:latin typeface="Arial"/>
              </a:rPr>
              <a:t>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8430" y="3684270"/>
            <a:ext cx="457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507D"/>
                </a:solidFill>
                <a:latin typeface="Arial"/>
              </a:rPr>
              <a:t>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069079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4187190"/>
            <a:ext cx="2834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References in industry</a:t>
            </a:r>
          </a:p>
        </p:txBody>
      </p:sp>
      <p:sp>
        <p:nvSpPr>
          <p:cNvPr id="42" name="Oval 41"/>
          <p:cNvSpPr/>
          <p:nvPr/>
        </p:nvSpPr>
        <p:spPr>
          <a:xfrm>
            <a:off x="4399635" y="415960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e 42"/>
          <p:cNvSpPr/>
          <p:nvPr/>
        </p:nvSpPr>
        <p:spPr>
          <a:xfrm>
            <a:off x="4399635" y="4159605"/>
            <a:ext cx="321868" cy="321868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88455" y="415960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8455" y="4159605"/>
            <a:ext cx="321868" cy="3218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77275" y="415960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e 46"/>
          <p:cNvSpPr/>
          <p:nvPr/>
        </p:nvSpPr>
        <p:spPr>
          <a:xfrm>
            <a:off x="8377275" y="4159605"/>
            <a:ext cx="321868" cy="3218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66095" y="4159605"/>
            <a:ext cx="321868" cy="321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40080" y="4572000"/>
            <a:ext cx="108813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685800" y="5852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82930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None</a:t>
            </a:r>
          </a:p>
        </p:txBody>
      </p:sp>
      <p:sp>
        <p:nvSpPr>
          <p:cNvPr id="52" name="Oval 51"/>
          <p:cNvSpPr/>
          <p:nvPr/>
        </p:nvSpPr>
        <p:spPr>
          <a:xfrm>
            <a:off x="1783079" y="5852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e 52"/>
          <p:cNvSpPr/>
          <p:nvPr/>
        </p:nvSpPr>
        <p:spPr>
          <a:xfrm>
            <a:off x="1783079" y="5852160"/>
            <a:ext cx="182880" cy="1828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79" y="582930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55" name="Oval 54"/>
          <p:cNvSpPr/>
          <p:nvPr/>
        </p:nvSpPr>
        <p:spPr>
          <a:xfrm>
            <a:off x="2880359" y="5852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e 55"/>
          <p:cNvSpPr/>
          <p:nvPr/>
        </p:nvSpPr>
        <p:spPr>
          <a:xfrm>
            <a:off x="2880359" y="5852160"/>
            <a:ext cx="182880" cy="1828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59" y="582930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Medium</a:t>
            </a:r>
          </a:p>
        </p:txBody>
      </p:sp>
      <p:sp>
        <p:nvSpPr>
          <p:cNvPr id="58" name="Oval 57"/>
          <p:cNvSpPr/>
          <p:nvPr/>
        </p:nvSpPr>
        <p:spPr>
          <a:xfrm>
            <a:off x="3977640" y="5852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e 58"/>
          <p:cNvSpPr/>
          <p:nvPr/>
        </p:nvSpPr>
        <p:spPr>
          <a:xfrm>
            <a:off x="3977640" y="5852160"/>
            <a:ext cx="182880" cy="18288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0" y="582930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sp>
        <p:nvSpPr>
          <p:cNvPr id="61" name="Oval 60"/>
          <p:cNvSpPr/>
          <p:nvPr/>
        </p:nvSpPr>
        <p:spPr>
          <a:xfrm>
            <a:off x="5074920" y="5852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074920" y="585216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582930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Full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80709" y="1691640"/>
            <a:ext cx="1737360" cy="2926080"/>
          </a:xfrm>
          <a:prstGeom prst="roundRect">
            <a:avLst/>
          </a:prstGeom>
          <a:noFill/>
          <a:ln w="19050">
            <a:solidFill>
              <a:srgbClr val="A2060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6549390" y="3448812"/>
            <a:ext cx="0" cy="158496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6508242" y="340766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279897" y="5033772"/>
            <a:ext cx="253898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Premium justified by fit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Arial"/>
              </a:rPr>
              <a:t>咨询常用图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77589"/>
            <a:ext cx="5486400" cy="3429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0" i="0">
                <a:solidFill>
                  <a:srgbClr val="777777"/>
                </a:solidFill>
                <a:latin typeface="Arial"/>
              </a:rPr>
              <a:t>12 个示例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73152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Only 2.4% of visitors convert to purchases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(#)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1699778"/>
            <a:ext cx="6766560" cy="706099"/>
          </a:xfrm>
          <a:prstGeom prst="rect">
            <a:avLst/>
          </a:prstGeom>
          <a:solidFill>
            <a:srgbClr val="787675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19478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Visitors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382" y="2605034"/>
            <a:ext cx="2841955" cy="70609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24733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Product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372105"/>
            <a:ext cx="1280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↓ 42%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34798" y="3510290"/>
            <a:ext cx="663122" cy="706099"/>
          </a:xfrm>
          <a:prstGeom prst="rect">
            <a:avLst/>
          </a:prstGeom>
          <a:solidFill>
            <a:srgbClr val="787675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9990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Add to 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277361"/>
            <a:ext cx="1280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↓ 23%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7645" y="4415546"/>
            <a:ext cx="277428" cy="706099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3634" y="4635246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35246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182618"/>
            <a:ext cx="1280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↓ 42%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5161" y="5320802"/>
            <a:ext cx="162397" cy="70609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6118" y="554050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40502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087874"/>
            <a:ext cx="12801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↓ 59%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440180"/>
            <a:ext cx="14630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947410"/>
            <a:ext cx="201168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507D"/>
                </a:solidFill>
                <a:latin typeface="Arial"/>
              </a:rPr>
              <a:t>Overall 2.4%</a:t>
            </a:r>
          </a:p>
        </p:txBody>
      </p:sp>
      <p:sp>
        <p:nvSpPr>
          <p:cNvPr id="23" name="Oval 22"/>
          <p:cNvSpPr/>
          <p:nvPr/>
        </p:nvSpPr>
        <p:spPr>
          <a:xfrm>
            <a:off x="8615680" y="4110228"/>
            <a:ext cx="1097280" cy="41148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69680" y="4450080"/>
            <a:ext cx="0" cy="48768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8828532" y="440893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80428" y="4937760"/>
            <a:ext cx="253898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Checkout UX fix: +0.8 pp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Margin pressure concentrated in South /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(EBIT margin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19" y="1649730"/>
            <a:ext cx="1700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North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8304" y="1649730"/>
            <a:ext cx="1700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South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649730"/>
            <a:ext cx="1700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East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1649730"/>
            <a:ext cx="1700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West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1649730"/>
            <a:ext cx="1700784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239268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011680"/>
            <a:ext cx="1700784" cy="1028700"/>
          </a:xfrm>
          <a:prstGeom prst="rect">
            <a:avLst/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8304" y="2011680"/>
            <a:ext cx="1700784" cy="1028700"/>
          </a:xfrm>
          <a:prstGeom prst="rect">
            <a:avLst/>
          </a:prstGeom>
          <a:solidFill>
            <a:srgbClr val="246990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2011680"/>
            <a:ext cx="1700784" cy="1028700"/>
          </a:xfrm>
          <a:prstGeom prst="rect">
            <a:avLst/>
          </a:prstGeom>
          <a:solidFill>
            <a:srgbClr val="125C86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1" y="2011680"/>
            <a:ext cx="1700784" cy="1028700"/>
          </a:xfrm>
          <a:prstGeom prst="rect">
            <a:avLst/>
          </a:prstGeom>
          <a:solidFill>
            <a:srgbClr val="095682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0656" y="2011680"/>
            <a:ext cx="1700784" cy="1028700"/>
          </a:xfrm>
          <a:prstGeom prst="rect">
            <a:avLst/>
          </a:prstGeom>
          <a:solidFill>
            <a:srgbClr val="1B638B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342138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040380"/>
            <a:ext cx="1700784" cy="1028700"/>
          </a:xfrm>
          <a:prstGeom prst="rect">
            <a:avLst/>
          </a:prstGeom>
          <a:solidFill>
            <a:srgbClr val="5B8EAB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3040380"/>
            <a:ext cx="1700784" cy="1028700"/>
          </a:xfrm>
          <a:prstGeom prst="rect">
            <a:avLst/>
          </a:prstGeom>
          <a:solidFill>
            <a:srgbClr val="80A8BE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3040380"/>
            <a:ext cx="1700784" cy="1028700"/>
          </a:xfrm>
          <a:prstGeom prst="rect">
            <a:avLst/>
          </a:prstGeom>
          <a:solidFill>
            <a:srgbClr val="6495B0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3040380"/>
            <a:ext cx="1700784" cy="1028700"/>
          </a:xfrm>
          <a:prstGeom prst="rect">
            <a:avLst/>
          </a:prstGeom>
          <a:solidFill>
            <a:srgbClr val="6D9BB5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0656" y="3040380"/>
            <a:ext cx="1700784" cy="1028700"/>
          </a:xfrm>
          <a:prstGeom prst="rect">
            <a:avLst/>
          </a:prstGeom>
          <a:solidFill>
            <a:srgbClr val="76A1B9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" y="445008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069080"/>
            <a:ext cx="1700784" cy="1028700"/>
          </a:xfrm>
          <a:prstGeom prst="rect">
            <a:avLst/>
          </a:prstGeom>
          <a:solidFill>
            <a:srgbClr val="B6CDDA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8304" y="4069080"/>
            <a:ext cx="1700784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069080"/>
            <a:ext cx="1700784" cy="1028700"/>
          </a:xfrm>
          <a:prstGeom prst="rect">
            <a:avLst/>
          </a:prstGeom>
          <a:solidFill>
            <a:srgbClr val="C8DAE3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1" y="4069080"/>
            <a:ext cx="1700784" cy="1028700"/>
          </a:xfrm>
          <a:prstGeom prst="rect">
            <a:avLst/>
          </a:prstGeom>
          <a:solidFill>
            <a:srgbClr val="D1E0E8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0656" y="4069080"/>
            <a:ext cx="1700784" cy="1028700"/>
          </a:xfrm>
          <a:prstGeom prst="rect">
            <a:avLst/>
          </a:prstGeom>
          <a:solidFill>
            <a:srgbClr val="DBE6EC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" y="547878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Devices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097780"/>
            <a:ext cx="1700784" cy="1028700"/>
          </a:xfrm>
          <a:prstGeom prst="rect">
            <a:avLst/>
          </a:prstGeom>
          <a:solidFill>
            <a:srgbClr val="9BBACC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18304" y="5097780"/>
            <a:ext cx="1700784" cy="1028700"/>
          </a:xfrm>
          <a:prstGeom prst="rect">
            <a:avLst/>
          </a:prstGeom>
          <a:solidFill>
            <a:srgbClr val="D1E0E8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5097780"/>
            <a:ext cx="1700784" cy="1028700"/>
          </a:xfrm>
          <a:prstGeom prst="rect">
            <a:avLst/>
          </a:prstGeom>
          <a:solidFill>
            <a:srgbClr val="A4C0D1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9871" y="5097780"/>
            <a:ext cx="1700784" cy="1028700"/>
          </a:xfrm>
          <a:prstGeom prst="rect">
            <a:avLst/>
          </a:prstGeom>
          <a:solidFill>
            <a:srgbClr val="ADC7D5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0656" y="5097780"/>
            <a:ext cx="1700784" cy="1028700"/>
          </a:xfrm>
          <a:prstGeom prst="rect">
            <a:avLst/>
          </a:prstGeom>
          <a:solidFill>
            <a:srgbClr val="B6CDDA"/>
          </a:solidFill>
          <a:ln w="19050">
            <a:solidFill>
              <a:srgbClr val="FFFFFF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4" name="Oval 33"/>
          <p:cNvSpPr/>
          <p:nvPr/>
        </p:nvSpPr>
        <p:spPr>
          <a:xfrm>
            <a:off x="4928616" y="4217670"/>
            <a:ext cx="1280160" cy="73152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774436" y="4748022"/>
            <a:ext cx="0" cy="976122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5733288" y="470687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90972" y="5724144"/>
            <a:ext cx="198424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Price war in South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Prioritise Cloud and Analytics: attractive and winnable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(Bubble size = revenue)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5120640" cy="180594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6121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777777"/>
                </a:solidFill>
                <a:latin typeface="Arial"/>
              </a:rPr>
              <a:t>Partner /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2011680"/>
            <a:ext cx="5120640" cy="1805940"/>
          </a:xfrm>
          <a:prstGeom prst="rect">
            <a:avLst/>
          </a:prstGeom>
          <a:solidFill>
            <a:srgbClr val="E6E6E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06121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777777"/>
                </a:solidFill>
                <a:latin typeface="Arial"/>
              </a:rPr>
              <a:t>Invest to grow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17620"/>
            <a:ext cx="5120640" cy="1805940"/>
          </a:xfrm>
          <a:prstGeom prst="rect">
            <a:avLst/>
          </a:prstGeom>
          <a:solidFill>
            <a:srgbClr val="E6E6E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86715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777777"/>
                </a:solidFill>
                <a:latin typeface="Arial"/>
              </a:rPr>
              <a:t>Deprioritise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817620"/>
            <a:ext cx="5120640" cy="180594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386715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777777"/>
                </a:solidFill>
                <a:latin typeface="Arial"/>
              </a:rPr>
              <a:t>Harvest</a:t>
            </a:r>
          </a:p>
        </p:txBody>
      </p:sp>
      <p:sp>
        <p:nvSpPr>
          <p:cNvPr id="13" name="Oval 12"/>
          <p:cNvSpPr/>
          <p:nvPr/>
        </p:nvSpPr>
        <p:spPr>
          <a:xfrm>
            <a:off x="8427110" y="2186330"/>
            <a:ext cx="950976" cy="950976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3806" y="2528468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Cloud</a:t>
            </a:r>
          </a:p>
        </p:txBody>
      </p:sp>
      <p:sp>
        <p:nvSpPr>
          <p:cNvPr id="15" name="Oval 14"/>
          <p:cNvSpPr/>
          <p:nvPr/>
        </p:nvSpPr>
        <p:spPr>
          <a:xfrm>
            <a:off x="7280600" y="2774437"/>
            <a:ext cx="786088" cy="786088"/>
          </a:xfrm>
          <a:prstGeom prst="ellipse">
            <a:avLst/>
          </a:prstGeom>
          <a:solidFill>
            <a:srgbClr val="00507D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2409" y="3034131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Analytics</a:t>
            </a:r>
          </a:p>
        </p:txBody>
      </p:sp>
      <p:sp>
        <p:nvSpPr>
          <p:cNvPr id="17" name="Oval 16"/>
          <p:cNvSpPr/>
          <p:nvPr/>
        </p:nvSpPr>
        <p:spPr>
          <a:xfrm>
            <a:off x="3563837" y="2491703"/>
            <a:ext cx="845892" cy="845892"/>
          </a:xfrm>
          <a:prstGeom prst="ellipse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5450" y="278130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AI platforms</a:t>
            </a:r>
          </a:p>
        </p:txBody>
      </p:sp>
      <p:sp>
        <p:nvSpPr>
          <p:cNvPr id="19" name="Oval 18"/>
          <p:cNvSpPr/>
          <p:nvPr/>
        </p:nvSpPr>
        <p:spPr>
          <a:xfrm>
            <a:off x="8151740" y="4096376"/>
            <a:ext cx="887239" cy="887239"/>
          </a:xfrm>
          <a:prstGeom prst="ellipse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4699" y="4406646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On-prem</a:t>
            </a:r>
          </a:p>
        </p:txBody>
      </p:sp>
      <p:sp>
        <p:nvSpPr>
          <p:cNvPr id="21" name="Oval 20"/>
          <p:cNvSpPr/>
          <p:nvPr/>
        </p:nvSpPr>
        <p:spPr>
          <a:xfrm>
            <a:off x="2868875" y="4530340"/>
            <a:ext cx="597211" cy="597211"/>
          </a:xfrm>
          <a:prstGeom prst="ellipse">
            <a:avLst/>
          </a:prstGeom>
          <a:solidFill>
            <a:srgbClr val="C6C0C0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807" y="4695596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Legacy HW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623560"/>
            <a:ext cx="1024128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 flipV="1">
            <a:off x="914400" y="2011680"/>
            <a:ext cx="0" cy="361188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6583680" y="5718810"/>
            <a:ext cx="4572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Arial"/>
              </a:rPr>
              <a:t>Ability to win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649730"/>
            <a:ext cx="4572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↑  Market attractiveness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8564778" y="2177186"/>
            <a:ext cx="813308" cy="35052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9336938" y="2486558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25794" y="1774850"/>
            <a:ext cx="253898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Invest $40M over 3 years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Three causes explain 83% of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(# defects)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19" y="5760720"/>
            <a:ext cx="96012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0789920" y="2103120"/>
            <a:ext cx="0" cy="36576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0863072" y="5646420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4914900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3072" y="4183379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3451860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3072" y="2720339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3072" y="1988819"/>
            <a:ext cx="54864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19" y="2834639"/>
            <a:ext cx="9601201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1234439" y="2536697"/>
            <a:ext cx="54864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80%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39" y="3749039"/>
            <a:ext cx="822959" cy="201168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Solder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4335780"/>
            <a:ext cx="822959" cy="14249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754879"/>
            <a:ext cx="822959" cy="10058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Paint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5391912"/>
            <a:ext cx="822959" cy="368808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Packaging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509259"/>
            <a:ext cx="822959" cy="25146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5593080"/>
            <a:ext cx="822959" cy="167640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Screws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626608"/>
            <a:ext cx="822959" cy="134112"/>
          </a:xfrm>
          <a:prstGeom prst="rect">
            <a:avLst/>
          </a:prstGeom>
          <a:solidFill>
            <a:srgbClr val="C6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847588"/>
            <a:ext cx="13716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29" name="Freeform 28"/>
          <p:cNvSpPr/>
          <p:nvPr/>
        </p:nvSpPr>
        <p:spPr>
          <a:xfrm>
            <a:off x="1874519" y="2103120"/>
            <a:ext cx="8229601" cy="2286000"/>
          </a:xfrm>
          <a:custGeom>
            <a:avLst/>
            <a:gdLst/>
            <a:ahLst/>
            <a:cxnLst/>
            <a:rect l="l" t="t" r="r" b="b"/>
            <a:pathLst>
              <a:path w="8229601" h="2286000">
                <a:moveTo>
                  <a:pt x="0" y="2286000"/>
                </a:moveTo>
                <a:lnTo>
                  <a:pt x="1371601" y="1314450"/>
                </a:lnTo>
                <a:lnTo>
                  <a:pt x="2743201" y="628650"/>
                </a:lnTo>
                <a:lnTo>
                  <a:pt x="4114801" y="377190"/>
                </a:lnTo>
                <a:lnTo>
                  <a:pt x="5486401" y="205740"/>
                </a:lnTo>
                <a:lnTo>
                  <a:pt x="6858001" y="91440"/>
                </a:lnTo>
                <a:lnTo>
                  <a:pt x="8229601" y="0"/>
                </a:lnTo>
              </a:path>
            </a:pathLst>
          </a:custGeom>
          <a:noFill/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79" y="1714499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"/>
              </a:rPr>
              <a:t>Cum. %</a:t>
            </a:r>
          </a:p>
        </p:txBody>
      </p:sp>
      <p:sp>
        <p:nvSpPr>
          <p:cNvPr id="31" name="Oval 30"/>
          <p:cNvSpPr/>
          <p:nvPr/>
        </p:nvSpPr>
        <p:spPr>
          <a:xfrm>
            <a:off x="1828799" y="434340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38%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337185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64%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268605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83%</a:t>
            </a:r>
          </a:p>
        </p:txBody>
      </p:sp>
      <p:sp>
        <p:nvSpPr>
          <p:cNvPr id="37" name="Oval 36"/>
          <p:cNvSpPr/>
          <p:nvPr/>
        </p:nvSpPr>
        <p:spPr>
          <a:xfrm>
            <a:off x="5943600" y="243459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59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90%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0" y="226314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94%</a:t>
            </a:r>
          </a:p>
        </p:txBody>
      </p:sp>
      <p:sp>
        <p:nvSpPr>
          <p:cNvPr id="41" name="Oval 40"/>
          <p:cNvSpPr/>
          <p:nvPr/>
        </p:nvSpPr>
        <p:spPr>
          <a:xfrm>
            <a:off x="8686800" y="214884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98%</a:t>
            </a:r>
          </a:p>
        </p:txBody>
      </p:sp>
      <p:sp>
        <p:nvSpPr>
          <p:cNvPr id="43" name="Oval 42"/>
          <p:cNvSpPr/>
          <p:nvPr/>
        </p:nvSpPr>
        <p:spPr>
          <a:xfrm>
            <a:off x="10058400" y="205740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1714499"/>
            <a:ext cx="7315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100%</a:t>
            </a:r>
          </a:p>
        </p:txBody>
      </p:sp>
      <p:sp>
        <p:nvSpPr>
          <p:cNvPr id="45" name="Oval 44"/>
          <p:cNvSpPr/>
          <p:nvPr/>
        </p:nvSpPr>
        <p:spPr>
          <a:xfrm>
            <a:off x="4251959" y="1636775"/>
            <a:ext cx="731520" cy="384048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91455" y="1947671"/>
            <a:ext cx="1251712" cy="41148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4750307" y="1906523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43167" y="2359151"/>
            <a:ext cx="3001264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Top 3 causes = 83% of defects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NPV is most sensitive to price and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(NPV 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95160" y="1965960"/>
            <a:ext cx="0" cy="416052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623560" y="1604010"/>
            <a:ext cx="27432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"/>
              </a:rPr>
              <a:t>Base case 120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95368" y="2220163"/>
            <a:ext cx="3299791" cy="4882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416" y="2350008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2220163"/>
            <a:ext cx="3299791" cy="48828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8103" y="2350008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0957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Price ±10%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5299" y="3033979"/>
            <a:ext cx="2199860" cy="4882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3347" y="3163824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033979"/>
            <a:ext cx="2356993" cy="48828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5305" y="3163824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44774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Volume ±15%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3847795"/>
            <a:ext cx="1414196" cy="48828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2508" y="3977639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6663" y="3847795"/>
            <a:ext cx="1178496" cy="4882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4711" y="3977639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58590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WACC ±1pp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4661611"/>
            <a:ext cx="1178496" cy="48828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6808" y="4791456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8096" y="4661611"/>
            <a:ext cx="1257063" cy="4882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6144" y="4791456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72406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Input cost ±10%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5475427"/>
            <a:ext cx="864231" cy="488289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2543" y="5605272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9495" y="5475427"/>
            <a:ext cx="785664" cy="488289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7543" y="5605272"/>
            <a:ext cx="18288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86222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Capex ±20%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22383" y="2583179"/>
            <a:ext cx="0" cy="2148841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10281235" y="254203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4732020"/>
            <a:ext cx="329184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Pricing power is the key value lever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ROCE driver tree: asset turnover is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(FY2025)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20439"/>
            <a:ext cx="2194560" cy="68580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ROCE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2388870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EBIT margin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9%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4320" y="1823085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Gross margin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38%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61760" y="2731770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7178040" y="2165985"/>
            <a:ext cx="0" cy="565785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7178040" y="2165985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7894320" y="2954655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Opex ratio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29%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61760" y="2731770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7178040" y="2731770"/>
            <a:ext cx="0" cy="565785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7178040" y="3297555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150607" y="3046095"/>
            <a:ext cx="2743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39" y="3863339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550919" y="2731770"/>
            <a:ext cx="0" cy="1131569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550919" y="2731770"/>
            <a:ext cx="71628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523487" y="2480310"/>
            <a:ext cx="2743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4652010"/>
            <a:ext cx="21945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Asset turnover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1.6x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4320" y="4086225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Revenue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$125M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61760" y="4994910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7178040" y="4429125"/>
            <a:ext cx="0" cy="565785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7178040" y="4429125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7894320" y="5217795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Capital employed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$78M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61760" y="4994910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178040" y="4994910"/>
            <a:ext cx="0" cy="565785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178040" y="5560695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150607" y="5309234"/>
            <a:ext cx="27432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÷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39" y="3863339"/>
            <a:ext cx="71628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3550919" y="3863339"/>
            <a:ext cx="0" cy="113157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3550919" y="4994910"/>
            <a:ext cx="71628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5364480" y="4994910"/>
            <a:ext cx="0" cy="729234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5323332" y="495376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77816" y="5724144"/>
            <a:ext cx="152196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Peers at 2.1x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Q3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(Q3 2026 vs Q3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19" y="1691640"/>
            <a:ext cx="24460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" y="1691640"/>
            <a:ext cx="73152" cy="42519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832609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164080"/>
            <a:ext cx="2171700" cy="609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$125M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38450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507D"/>
                </a:solidFill>
                <a:latin typeface="Arial"/>
              </a:rPr>
              <a:t>+14.7% YoY</a:t>
            </a:r>
          </a:p>
        </p:txBody>
      </p:sp>
      <p:sp>
        <p:nvSpPr>
          <p:cNvPr id="10" name="Freeform 9"/>
          <p:cNvSpPr/>
          <p:nvPr/>
        </p:nvSpPr>
        <p:spPr>
          <a:xfrm>
            <a:off x="960119" y="4983480"/>
            <a:ext cx="1988821" cy="731520"/>
          </a:xfrm>
          <a:custGeom>
            <a:avLst/>
            <a:gdLst/>
            <a:ahLst/>
            <a:cxnLst/>
            <a:rect l="l" t="t" r="r" b="b"/>
            <a:pathLst>
              <a:path w="1988821" h="731520">
                <a:moveTo>
                  <a:pt x="0" y="731520"/>
                </a:moveTo>
                <a:lnTo>
                  <a:pt x="497206" y="599846"/>
                </a:lnTo>
                <a:lnTo>
                  <a:pt x="994411" y="424281"/>
                </a:lnTo>
                <a:lnTo>
                  <a:pt x="1491616" y="234086"/>
                </a:lnTo>
                <a:lnTo>
                  <a:pt x="1988821" y="0"/>
                </a:lnTo>
              </a:path>
            </a:pathLst>
          </a:custGeom>
          <a:noFill/>
          <a:ln w="19050">
            <a:solidFill>
              <a:srgbClr val="787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03220" y="4937760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1860" y="1691640"/>
            <a:ext cx="24460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1860" y="1691640"/>
            <a:ext cx="73152" cy="42519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60" y="1832609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EBIT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460" y="2164080"/>
            <a:ext cx="2171700" cy="609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21.0%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0460" y="2838450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507D"/>
                </a:solidFill>
                <a:latin typeface="Arial"/>
              </a:rPr>
              <a:t>+2.6 pp</a:t>
            </a:r>
          </a:p>
        </p:txBody>
      </p:sp>
      <p:sp>
        <p:nvSpPr>
          <p:cNvPr id="17" name="Freeform 16"/>
          <p:cNvSpPr/>
          <p:nvPr/>
        </p:nvSpPr>
        <p:spPr>
          <a:xfrm>
            <a:off x="3680460" y="4983480"/>
            <a:ext cx="1988820" cy="731520"/>
          </a:xfrm>
          <a:custGeom>
            <a:avLst/>
            <a:gdLst/>
            <a:ahLst/>
            <a:cxnLst/>
            <a:rect l="l" t="t" r="r" b="b"/>
            <a:pathLst>
              <a:path w="1988820" h="731520">
                <a:moveTo>
                  <a:pt x="0" y="731520"/>
                </a:moveTo>
                <a:lnTo>
                  <a:pt x="497205" y="585216"/>
                </a:lnTo>
                <a:lnTo>
                  <a:pt x="994410" y="380390"/>
                </a:lnTo>
                <a:lnTo>
                  <a:pt x="1491615" y="292608"/>
                </a:lnTo>
                <a:lnTo>
                  <a:pt x="1988820" y="0"/>
                </a:lnTo>
              </a:path>
            </a:pathLst>
          </a:custGeom>
          <a:noFill/>
          <a:ln w="19050">
            <a:solidFill>
              <a:srgbClr val="787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60" y="4937760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91640"/>
            <a:ext cx="24460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691640"/>
            <a:ext cx="73152" cy="42519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32609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NPS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4080"/>
            <a:ext cx="2171700" cy="609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8450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507D"/>
                </a:solidFill>
                <a:latin typeface="Arial"/>
              </a:rPr>
              <a:t>+23 pts</a:t>
            </a:r>
          </a:p>
        </p:txBody>
      </p:sp>
      <p:sp>
        <p:nvSpPr>
          <p:cNvPr id="24" name="Freeform 23"/>
          <p:cNvSpPr/>
          <p:nvPr/>
        </p:nvSpPr>
        <p:spPr>
          <a:xfrm>
            <a:off x="6400800" y="4983480"/>
            <a:ext cx="1988820" cy="731520"/>
          </a:xfrm>
          <a:custGeom>
            <a:avLst/>
            <a:gdLst/>
            <a:ahLst/>
            <a:cxnLst/>
            <a:rect l="l" t="t" r="r" b="b"/>
            <a:pathLst>
              <a:path w="1988820" h="731520">
                <a:moveTo>
                  <a:pt x="0" y="731520"/>
                </a:moveTo>
                <a:lnTo>
                  <a:pt x="497205" y="627017"/>
                </a:lnTo>
                <a:lnTo>
                  <a:pt x="994410" y="480713"/>
                </a:lnTo>
                <a:lnTo>
                  <a:pt x="1491615" y="313508"/>
                </a:lnTo>
                <a:lnTo>
                  <a:pt x="1988820" y="0"/>
                </a:lnTo>
              </a:path>
            </a:pathLst>
          </a:custGeom>
          <a:noFill/>
          <a:ln w="19050">
            <a:solidFill>
              <a:srgbClr val="787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3900" y="4937760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92540" y="1691640"/>
            <a:ext cx="24460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2540" y="1691640"/>
            <a:ext cx="73152" cy="425196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1140" y="1832609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164080"/>
            <a:ext cx="2171700" cy="609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Arial"/>
              </a:rPr>
              <a:t>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1140" y="2838450"/>
            <a:ext cx="21717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A20603"/>
                </a:solidFill>
                <a:latin typeface="Arial"/>
              </a:rPr>
              <a:t>+0.3 pp</a:t>
            </a:r>
          </a:p>
        </p:txBody>
      </p:sp>
      <p:sp>
        <p:nvSpPr>
          <p:cNvPr id="31" name="Freeform 30"/>
          <p:cNvSpPr/>
          <p:nvPr/>
        </p:nvSpPr>
        <p:spPr>
          <a:xfrm>
            <a:off x="9121140" y="4983480"/>
            <a:ext cx="1988820" cy="731520"/>
          </a:xfrm>
          <a:custGeom>
            <a:avLst/>
            <a:gdLst/>
            <a:ahLst/>
            <a:cxnLst/>
            <a:rect l="l" t="t" r="r" b="b"/>
            <a:pathLst>
              <a:path w="1988820" h="731520">
                <a:moveTo>
                  <a:pt x="0" y="731520"/>
                </a:moveTo>
                <a:lnTo>
                  <a:pt x="497204" y="548640"/>
                </a:lnTo>
                <a:lnTo>
                  <a:pt x="994410" y="548640"/>
                </a:lnTo>
                <a:lnTo>
                  <a:pt x="1491615" y="365760"/>
                </a:lnTo>
                <a:lnTo>
                  <a:pt x="1988820" y="0"/>
                </a:lnTo>
              </a:path>
            </a:pathLst>
          </a:custGeom>
          <a:noFill/>
          <a:ln w="19050">
            <a:solidFill>
              <a:srgbClr val="787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64240" y="4937760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44787" y="2125980"/>
            <a:ext cx="1463040" cy="685800"/>
          </a:xfrm>
          <a:prstGeom prst="ellipse">
            <a:avLst/>
          </a:prstGeom>
          <a:noFill/>
          <a:ln w="25400">
            <a:solidFill>
              <a:srgbClr val="A2060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835388" y="3105912"/>
            <a:ext cx="0" cy="48768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794240" y="3064764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3264" y="3593592"/>
            <a:ext cx="198424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Above 1.8% ceiling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Revenue and NPS ahead of target, margin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(YTD actual vs target)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914525"/>
            <a:ext cx="4761411" cy="5029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8931" y="1914525"/>
            <a:ext cx="1058091" cy="5029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37022" y="1914525"/>
            <a:ext cx="1587137" cy="50292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2082164"/>
            <a:ext cx="6613071" cy="1676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260259" y="1868805"/>
            <a:ext cx="0" cy="594359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40079" y="1941194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Arial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207514"/>
            <a:ext cx="228600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777777"/>
                </a:solidFill>
                <a:latin typeface="Arial"/>
              </a:rPr>
              <a:t>$M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051685"/>
            <a:ext cx="109728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125 / 118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046095"/>
            <a:ext cx="4443984" cy="5029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046095"/>
            <a:ext cx="1481328" cy="5029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42832" y="3046095"/>
            <a:ext cx="1481328" cy="50292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213735"/>
            <a:ext cx="5629046" cy="1676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239097" y="3000375"/>
            <a:ext cx="0" cy="59436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40079" y="3072765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Arial"/>
              </a:rPr>
              <a:t>EBIT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3339084"/>
            <a:ext cx="228600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777777"/>
                </a:solidFill>
                <a:latin typeface="Arial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183255"/>
            <a:ext cx="109728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19 / 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177664"/>
            <a:ext cx="2468880" cy="5029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4177664"/>
            <a:ext cx="1851660" cy="5029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8060" y="4177664"/>
            <a:ext cx="3086100" cy="50292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4345305"/>
            <a:ext cx="5554980" cy="1676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955280" y="4131945"/>
            <a:ext cx="0" cy="59436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79" y="4204335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Arial"/>
              </a:rPr>
              <a:t>NPS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" y="4470654"/>
            <a:ext cx="228600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777777"/>
                </a:solidFill>
                <a:latin typeface="Arial"/>
              </a:rPr>
              <a:t>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314825"/>
            <a:ext cx="109728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45 /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309234"/>
            <a:ext cx="3086100" cy="5029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03620" y="5309234"/>
            <a:ext cx="1851660" cy="5029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5309234"/>
            <a:ext cx="2468880" cy="50292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0" y="5476875"/>
            <a:ext cx="5061204" cy="167640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572500" y="5263515"/>
            <a:ext cx="0" cy="59436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40079" y="5335905"/>
            <a:ext cx="2286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Arial"/>
              </a:rPr>
              <a:t>New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79" y="5602224"/>
            <a:ext cx="228600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100" b="0" i="0">
                <a:solidFill>
                  <a:srgbClr val="777777"/>
                </a:solidFill>
                <a:latin typeface="Arial"/>
              </a:rPr>
              <a:t>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446395"/>
            <a:ext cx="109728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8.2 / 9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17520" y="1508760"/>
            <a:ext cx="274319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383279" y="1394460"/>
            <a:ext cx="91440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Target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0343388" y="3416427"/>
            <a:ext cx="126492" cy="246888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10428732" y="3375279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59140" y="3663315"/>
            <a:ext cx="1984248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Mix headwind in Q3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Initiatives behind plan: procurement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906524"/>
            <a:ext cx="6858000" cy="29260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906524"/>
            <a:ext cx="2343149" cy="29260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19478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Procurement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9" y="1919478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1948053"/>
            <a:ext cx="12801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Arial"/>
              </a:rPr>
              <a:t>4.1/12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11779"/>
            <a:ext cx="6858000" cy="29260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811779"/>
            <a:ext cx="2743200" cy="292608"/>
          </a:xfrm>
          <a:prstGeom prst="rect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24733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Pricing 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2824733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2853308"/>
            <a:ext cx="12801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Arial"/>
              </a:rPr>
              <a:t>3.2/8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717035"/>
            <a:ext cx="6858000" cy="29260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717035"/>
            <a:ext cx="4457700" cy="2926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29990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SG&amp;A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9" y="3729990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3758565"/>
            <a:ext cx="12801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Arial"/>
              </a:rPr>
              <a:t>6.5/10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622292"/>
            <a:ext cx="6858000" cy="29260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4622292"/>
            <a:ext cx="4800600" cy="2926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35246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4635246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4663821"/>
            <a:ext cx="12801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Arial"/>
              </a:rPr>
              <a:t>2.8/4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527548"/>
            <a:ext cx="6858000" cy="29260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5527548"/>
            <a:ext cx="5143500" cy="2926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40502"/>
            <a:ext cx="25603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Working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5540502"/>
            <a:ext cx="73152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5569077"/>
            <a:ext cx="1280160" cy="20955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Arial"/>
              </a:rPr>
              <a:t>15/20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1600200"/>
            <a:ext cx="0" cy="452628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31" name="TextBox 30"/>
          <p:cNvSpPr txBox="1"/>
          <p:nvPr/>
        </p:nvSpPr>
        <p:spPr>
          <a:xfrm>
            <a:off x="6400799" y="1376172"/>
            <a:ext cx="219456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Plan to date 60%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651492" y="2186940"/>
            <a:ext cx="635507" cy="167639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10245851" y="2145792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57772" y="2354579"/>
            <a:ext cx="309372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Supplier renegotiation delayed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We lead on product, lag on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(Score 1–5)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Freeform 4"/>
          <p:cNvSpPr/>
          <p:nvPr/>
        </p:nvSpPr>
        <p:spPr>
          <a:xfrm>
            <a:off x="4582583" y="3446144"/>
            <a:ext cx="801793" cy="925830"/>
          </a:xfrm>
          <a:custGeom>
            <a:avLst/>
            <a:gdLst/>
            <a:ahLst/>
            <a:cxnLst/>
            <a:rect l="l" t="t" r="r" b="b"/>
            <a:pathLst>
              <a:path w="801793" h="925830">
                <a:moveTo>
                  <a:pt x="400897" y="0"/>
                </a:moveTo>
                <a:lnTo>
                  <a:pt x="801793" y="231458"/>
                </a:lnTo>
                <a:lnTo>
                  <a:pt x="801793" y="694373"/>
                </a:lnTo>
                <a:lnTo>
                  <a:pt x="400897" y="925830"/>
                </a:lnTo>
                <a:lnTo>
                  <a:pt x="0" y="694373"/>
                </a:lnTo>
                <a:lnTo>
                  <a:pt x="0" y="231458"/>
                </a:lnTo>
                <a:close/>
              </a:path>
            </a:pathLst>
          </a:custGeom>
          <a:noFill/>
          <a:ln w="6350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181687" y="2983229"/>
            <a:ext cx="1603585" cy="1851661"/>
          </a:xfrm>
          <a:custGeom>
            <a:avLst/>
            <a:gdLst/>
            <a:ahLst/>
            <a:cxnLst/>
            <a:rect l="l" t="t" r="r" b="b"/>
            <a:pathLst>
              <a:path w="1603585" h="1851661">
                <a:moveTo>
                  <a:pt x="801793" y="0"/>
                </a:moveTo>
                <a:lnTo>
                  <a:pt x="1603585" y="462915"/>
                </a:lnTo>
                <a:lnTo>
                  <a:pt x="1603585" y="1388745"/>
                </a:lnTo>
                <a:lnTo>
                  <a:pt x="801793" y="1851661"/>
                </a:lnTo>
                <a:lnTo>
                  <a:pt x="0" y="1388746"/>
                </a:lnTo>
                <a:lnTo>
                  <a:pt x="0" y="462915"/>
                </a:lnTo>
                <a:close/>
              </a:path>
            </a:pathLst>
          </a:custGeom>
          <a:noFill/>
          <a:ln w="6350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780791" y="2520314"/>
            <a:ext cx="2405377" cy="2777490"/>
          </a:xfrm>
          <a:custGeom>
            <a:avLst/>
            <a:gdLst/>
            <a:ahLst/>
            <a:cxnLst/>
            <a:rect l="l" t="t" r="r" b="b"/>
            <a:pathLst>
              <a:path w="2405377" h="2777490">
                <a:moveTo>
                  <a:pt x="1202689" y="0"/>
                </a:moveTo>
                <a:lnTo>
                  <a:pt x="2405377" y="694373"/>
                </a:lnTo>
                <a:lnTo>
                  <a:pt x="2405377" y="2083118"/>
                </a:lnTo>
                <a:lnTo>
                  <a:pt x="1202689" y="2777490"/>
                </a:lnTo>
                <a:lnTo>
                  <a:pt x="0" y="2083118"/>
                </a:lnTo>
                <a:lnTo>
                  <a:pt x="0" y="694373"/>
                </a:lnTo>
                <a:close/>
              </a:path>
            </a:pathLst>
          </a:custGeom>
          <a:noFill/>
          <a:ln w="6350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379895" y="2057399"/>
            <a:ext cx="3207169" cy="3703320"/>
          </a:xfrm>
          <a:custGeom>
            <a:avLst/>
            <a:gdLst/>
            <a:ahLst/>
            <a:cxnLst/>
            <a:rect l="l" t="t" r="r" b="b"/>
            <a:pathLst>
              <a:path w="3207169" h="3703320">
                <a:moveTo>
                  <a:pt x="1603585" y="0"/>
                </a:moveTo>
                <a:lnTo>
                  <a:pt x="3207169" y="925830"/>
                </a:lnTo>
                <a:lnTo>
                  <a:pt x="3207169" y="2777490"/>
                </a:lnTo>
                <a:lnTo>
                  <a:pt x="1603585" y="3703320"/>
                </a:lnTo>
                <a:lnTo>
                  <a:pt x="0" y="2777491"/>
                </a:lnTo>
                <a:lnTo>
                  <a:pt x="0" y="925830"/>
                </a:lnTo>
                <a:close/>
              </a:path>
            </a:pathLst>
          </a:custGeom>
          <a:noFill/>
          <a:ln w="6350">
            <a:solidFill>
              <a:srgbClr val="C0C0C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4983480" y="2057399"/>
            <a:ext cx="0" cy="185166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069080" y="1649729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Product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983480" y="2983229"/>
            <a:ext cx="1603584" cy="92583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824632" y="2712719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3909059"/>
            <a:ext cx="1603584" cy="92583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24632" y="4838699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909059"/>
            <a:ext cx="0" cy="185166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069080" y="590169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Brand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379895" y="3909059"/>
            <a:ext cx="1603585" cy="925831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313527" y="4838700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Distribution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3379895" y="2983229"/>
            <a:ext cx="1603585" cy="925830"/>
          </a:xfrm>
          <a:prstGeom prst="line">
            <a:avLst/>
          </a:prstGeom>
          <a:ln w="6350">
            <a:solidFill>
              <a:srgbClr val="C0C0C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1313527" y="2712719"/>
            <a:ext cx="18288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r"/>
            <a:r>
              <a:rPr sz="1400" b="0" i="0">
                <a:solidFill>
                  <a:srgbClr val="000000"/>
                </a:solidFill>
                <a:latin typeface="Arial"/>
              </a:rPr>
              <a:t>Innovation</a:t>
            </a:r>
          </a:p>
        </p:txBody>
      </p:sp>
      <p:sp>
        <p:nvSpPr>
          <p:cNvPr id="21" name="Freeform 20"/>
          <p:cNvSpPr/>
          <p:nvPr/>
        </p:nvSpPr>
        <p:spPr>
          <a:xfrm>
            <a:off x="3636468" y="2205532"/>
            <a:ext cx="2373306" cy="3110789"/>
          </a:xfrm>
          <a:custGeom>
            <a:avLst/>
            <a:gdLst/>
            <a:ahLst/>
            <a:cxnLst/>
            <a:rect l="l" t="t" r="r" b="b"/>
            <a:pathLst>
              <a:path w="2373306" h="3110789">
                <a:moveTo>
                  <a:pt x="1347012" y="0"/>
                </a:moveTo>
                <a:lnTo>
                  <a:pt x="2373306" y="1110996"/>
                </a:lnTo>
                <a:lnTo>
                  <a:pt x="2148804" y="2166442"/>
                </a:lnTo>
                <a:lnTo>
                  <a:pt x="1347012" y="3110789"/>
                </a:lnTo>
                <a:lnTo>
                  <a:pt x="224502" y="2351609"/>
                </a:lnTo>
                <a:lnTo>
                  <a:pt x="0" y="925830"/>
                </a:lnTo>
                <a:close/>
              </a:path>
            </a:pathLst>
          </a:custGeom>
          <a:noFill/>
          <a:ln w="28575">
            <a:solidFill>
              <a:srgbClr val="00507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0" y="2159812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64054" y="3270808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39552" y="4326254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37760" y="5270601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15250" y="4511421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90748" y="3085642"/>
            <a:ext cx="91440" cy="91440"/>
          </a:xfrm>
          <a:prstGeom prst="ellipse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89257" y="2501798"/>
            <a:ext cx="2309162" cy="2888590"/>
          </a:xfrm>
          <a:custGeom>
            <a:avLst/>
            <a:gdLst/>
            <a:ahLst/>
            <a:cxnLst/>
            <a:rect l="l" t="t" r="r" b="b"/>
            <a:pathLst>
              <a:path w="2309162" h="2888590">
                <a:moveTo>
                  <a:pt x="994223" y="0"/>
                </a:moveTo>
                <a:lnTo>
                  <a:pt x="2245018" y="685114"/>
                </a:lnTo>
                <a:lnTo>
                  <a:pt x="2309162" y="2166442"/>
                </a:lnTo>
                <a:lnTo>
                  <a:pt x="994223" y="2888590"/>
                </a:lnTo>
                <a:lnTo>
                  <a:pt x="32072" y="1962760"/>
                </a:lnTo>
                <a:lnTo>
                  <a:pt x="0" y="833247"/>
                </a:lnTo>
                <a:close/>
              </a:path>
            </a:pathLst>
          </a:custGeom>
          <a:noFill/>
          <a:ln w="28575">
            <a:solidFill>
              <a:srgbClr val="6C89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60" y="2456078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88555" y="3141192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52699" y="4622520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37760" y="5344668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75609" y="4418838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43537" y="3289325"/>
            <a:ext cx="91440" cy="91440"/>
          </a:xfrm>
          <a:prstGeom prst="ellipse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59" y="1801367"/>
            <a:ext cx="146304" cy="146304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1741170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59" y="2121408"/>
            <a:ext cx="146304" cy="146304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0928" y="2061209"/>
            <a:ext cx="173736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Competitor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67328" y="5106161"/>
            <a:ext cx="0" cy="396240"/>
          </a:xfrm>
          <a:prstGeom prst="line">
            <a:avLst/>
          </a:prstGeom>
          <a:ln w="9525">
            <a:solidFill>
              <a:srgbClr val="A20603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526180" y="5065013"/>
            <a:ext cx="82296" cy="82296"/>
          </a:xfrm>
          <a:prstGeom prst="ellipse">
            <a:avLst/>
          </a:prstGeom>
          <a:solidFill>
            <a:srgbClr val="A206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99892" y="5502401"/>
            <a:ext cx="2723896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20603"/>
            </a:solidFill>
          </a:ln>
        </p:spPr>
        <p:txBody>
          <a:bodyPr rtlCol="0" anchor="ctr" lIns="18288" rIns="18288" tIns="0" bIns="0" wrap="none"/>
          <a:lstStyle/>
          <a:p>
            <a:pPr algn="ctr"/>
            <a:r>
              <a:rPr sz="1300" b="1" i="0">
                <a:solidFill>
                  <a:srgbClr val="A20603"/>
                </a:solidFill>
                <a:latin typeface="Arial"/>
              </a:rPr>
              <a:t>Service gap = top priority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$1.2B obtainable market within a $40B 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($B,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783080"/>
            <a:ext cx="4343400" cy="4343400"/>
          </a:xfrm>
          <a:prstGeom prst="ellipse">
            <a:avLst/>
          </a:prstGeom>
          <a:solidFill>
            <a:srgbClr val="98ADC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303395" y="2011680"/>
            <a:ext cx="2417445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7" name="Oval 6"/>
          <p:cNvSpPr/>
          <p:nvPr/>
        </p:nvSpPr>
        <p:spPr>
          <a:xfrm>
            <a:off x="4266819" y="1975104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59280"/>
            <a:ext cx="3657600" cy="3048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TAM  $40B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89988"/>
            <a:ext cx="470916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Global B2B payments software</a:t>
            </a:r>
          </a:p>
        </p:txBody>
      </p:sp>
      <p:sp>
        <p:nvSpPr>
          <p:cNvPr id="10" name="Oval 9"/>
          <p:cNvSpPr/>
          <p:nvPr/>
        </p:nvSpPr>
        <p:spPr>
          <a:xfrm>
            <a:off x="2513172" y="4066224"/>
            <a:ext cx="2060255" cy="2060255"/>
          </a:xfrm>
          <a:prstGeom prst="ellipse">
            <a:avLst/>
          </a:prstGeom>
          <a:solidFill>
            <a:srgbClr val="6C89B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903844" y="4294824"/>
            <a:ext cx="2816996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3867268" y="4258248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4142424"/>
            <a:ext cx="3657600" cy="3048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SAM  $9B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473132"/>
            <a:ext cx="470916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Mid-market, Europe + NA</a:t>
            </a:r>
          </a:p>
        </p:txBody>
      </p:sp>
      <p:sp>
        <p:nvSpPr>
          <p:cNvPr id="15" name="Oval 14"/>
          <p:cNvSpPr/>
          <p:nvPr/>
        </p:nvSpPr>
        <p:spPr>
          <a:xfrm>
            <a:off x="3167150" y="5374181"/>
            <a:ext cx="752298" cy="752298"/>
          </a:xfrm>
          <a:prstGeom prst="ellipse">
            <a:avLst/>
          </a:prstGeom>
          <a:solidFill>
            <a:srgbClr val="00507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674952" y="5602781"/>
            <a:ext cx="3045888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3638376" y="5566205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5450381"/>
            <a:ext cx="3657600" cy="3048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SOM  $1.2B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781089"/>
            <a:ext cx="4709160" cy="228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5-year obtainable at 13% share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Almost two-thirds of spend is addressable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7259"/>
            <a:ext cx="112471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(% of spend)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59"/>
            <a:ext cx="11247120" cy="365760"/>
          </a:xfrm>
          <a:prstGeom prst="rect">
            <a:avLst/>
          </a:prstGeom>
          <a:noFill/>
        </p:spPr>
        <p:txBody>
          <a:bodyPr wrap="square" lIns="18288" rIns="18288" tIns="0" bIns="0" anchor="b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Figures rounded; illustrative example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Source: Illustrative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7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4732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28216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1700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58668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45635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32604" y="560984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7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4732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8216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1700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5184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58668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2152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45635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604" y="516636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7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4732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28216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71700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15184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58668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2152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5635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32604" y="4722876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7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84732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28216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71700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5184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58668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2152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45635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32604" y="4279392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7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84732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28216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71700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15184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58668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02152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45635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89120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604" y="3835908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7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84732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28216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15184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58668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02152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45635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9120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32604" y="3392424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1247" y="294894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84732" y="294894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28216" y="294894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71700" y="2948940"/>
            <a:ext cx="406908" cy="406908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15184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58668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02152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45635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0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32604" y="2948940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1247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84732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728216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71700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15184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58668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02152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45635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89120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832604" y="2505456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1247" y="2061972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84732" y="2061972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728216" y="2061972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171700" y="2061972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15184" y="2061972"/>
            <a:ext cx="406908" cy="406908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058668" y="2061972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02152" y="2061972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945635" y="2061972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89120" y="2061972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32604" y="2061972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1247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84732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728216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171700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15184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058668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502152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945635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89120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832604" y="1618488"/>
            <a:ext cx="406908" cy="406908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715000" y="1764791"/>
            <a:ext cx="219456" cy="219456"/>
          </a:xfrm>
          <a:prstGeom prst="rect">
            <a:avLst/>
          </a:prstGeom>
          <a:solidFill>
            <a:srgbClr val="0050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80760" y="1722119"/>
            <a:ext cx="4572000" cy="3048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64%  Addressable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715000" y="2313432"/>
            <a:ext cx="219456" cy="219456"/>
          </a:xfrm>
          <a:prstGeom prst="rect">
            <a:avLst/>
          </a:prstGeom>
          <a:solidFill>
            <a:srgbClr val="6C89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80760" y="2289810"/>
            <a:ext cx="4572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21%  Partly addressable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715000" y="2862072"/>
            <a:ext cx="219456" cy="219456"/>
          </a:xfrm>
          <a:prstGeom prst="rect">
            <a:avLst/>
          </a:prstGeom>
          <a:solidFill>
            <a:srgbClr val="F8B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080760" y="2838450"/>
            <a:ext cx="4572000" cy="2667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15%  Locked-in contracts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